
<file path=[Content_Types].xml><?xml version="1.0" encoding="utf-8"?>
<Types xmlns="http://schemas.openxmlformats.org/package/2006/content-types">
  <Default Extension="jpeg" ContentType="image/jpeg"/>
  <Default Extension="jpg" ContentType="image/pn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86" r:id="rId2"/>
    <p:sldId id="260" r:id="rId3"/>
    <p:sldId id="329" r:id="rId4"/>
    <p:sldId id="328" r:id="rId5"/>
    <p:sldId id="257" r:id="rId6"/>
    <p:sldId id="331" r:id="rId7"/>
    <p:sldId id="326" r:id="rId8"/>
    <p:sldId id="330" r:id="rId9"/>
    <p:sldId id="323" r:id="rId10"/>
    <p:sldId id="333" r:id="rId11"/>
    <p:sldId id="332" r:id="rId12"/>
    <p:sldId id="334" r:id="rId13"/>
    <p:sldId id="335" r:id="rId14"/>
    <p:sldId id="336" r:id="rId15"/>
    <p:sldId id="324" r:id="rId16"/>
    <p:sldId id="277" r:id="rId17"/>
    <p:sldId id="320" r:id="rId18"/>
    <p:sldId id="327" r:id="rId19"/>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3" d="100"/>
          <a:sy n="73" d="100"/>
        </p:scale>
        <p:origin x="1080" y="36"/>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630578FE-A624-4D92-B093-82C1BFA47D1F}" type="datetimeFigureOut">
              <a:rPr lang="en-US" smtClean="0"/>
              <a:pPr/>
              <a:t>6/19/2026</a:t>
            </a:fld>
            <a:endParaRPr lang="en-US"/>
          </a:p>
        </p:txBody>
      </p:sp>
      <p:sp>
        <p:nvSpPr>
          <p:cNvPr id="4" name="Slide Image Placeholder 3"/>
          <p:cNvSpPr>
            <a:spLocks noGrp="1" noRot="1" noChangeAspect="1"/>
          </p:cNvSpPr>
          <p:nvPr>
            <p:ph type="sldImg" idx="2"/>
          </p:nvPr>
        </p:nvSpPr>
        <p:spPr>
          <a:xfrm>
            <a:off x="2857500" y="514350"/>
            <a:ext cx="3429000" cy="25717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257550"/>
            <a:ext cx="7315200" cy="30861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3962400" cy="3429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6513513"/>
            <a:ext cx="3962400" cy="342900"/>
          </a:xfrm>
          <a:prstGeom prst="rect">
            <a:avLst/>
          </a:prstGeom>
        </p:spPr>
        <p:txBody>
          <a:bodyPr vert="horz" lIns="91440" tIns="45720" rIns="91440" bIns="45720" rtlCol="0" anchor="b"/>
          <a:lstStyle>
            <a:lvl1pPr algn="r">
              <a:defRPr sz="1200"/>
            </a:lvl1pPr>
          </a:lstStyle>
          <a:p>
            <a:fld id="{F382A2A7-8E58-4AA3-854C-AFDBFBEC253A}"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4"/>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1"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1"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1"/>
            <a:ext cx="5111751"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435101"/>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1"/>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9"/>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9"/>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1"/>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1"/>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6/19/2026</a:t>
            </a:fld>
            <a:endParaRPr lang="en-US"/>
          </a:p>
        </p:txBody>
      </p:sp>
      <p:sp>
        <p:nvSpPr>
          <p:cNvPr id="5" name="Footer Placeholder 4"/>
          <p:cNvSpPr>
            <a:spLocks noGrp="1"/>
          </p:cNvSpPr>
          <p:nvPr>
            <p:ph type="ftr" sz="quarter" idx="3"/>
          </p:nvPr>
        </p:nvSpPr>
        <p:spPr>
          <a:xfrm>
            <a:off x="3124200" y="6356351"/>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1"/>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hyperlink" Target="http://www.klh.edu.i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0"/>
            <a:ext cx="7772400" cy="1201361"/>
          </a:xfrm>
        </p:spPr>
        <p:txBody>
          <a:bodyPr>
            <a:normAutofit fontScale="90000"/>
          </a:bodyPr>
          <a:lstStyle/>
          <a:p>
            <a:pPr>
              <a:defRPr/>
            </a:pPr>
            <a:br>
              <a:rPr lang="en-US" sz="1800" b="0" dirty="0">
                <a:solidFill>
                  <a:schemeClr val="tx1"/>
                </a:solidFill>
                <a:latin typeface="Times New Roman" pitchFamily="18" charset="0"/>
                <a:cs typeface="Times New Roman" pitchFamily="18" charset="0"/>
              </a:rPr>
            </a:br>
            <a:r>
              <a:rPr lang="en-US" sz="2200" b="0" dirty="0">
                <a:solidFill>
                  <a:schemeClr val="tx1"/>
                </a:solidFill>
                <a:latin typeface="Times New Roman" pitchFamily="18" charset="0"/>
                <a:cs typeface="Times New Roman" pitchFamily="18" charset="0"/>
              </a:rPr>
              <a:t>A</a:t>
            </a:r>
            <a:br>
              <a:rPr lang="en-US" sz="1800" b="0" dirty="0">
                <a:solidFill>
                  <a:schemeClr val="tx1"/>
                </a:solidFill>
                <a:latin typeface="Times New Roman" pitchFamily="18" charset="0"/>
                <a:cs typeface="Times New Roman" pitchFamily="18" charset="0"/>
              </a:rPr>
            </a:br>
            <a:r>
              <a:rPr lang="en-US" sz="3600" b="1" dirty="0">
                <a:solidFill>
                  <a:srgbClr val="FF0000"/>
                </a:solidFill>
                <a:latin typeface="Times New Roman" pitchFamily="18" charset="0"/>
                <a:cs typeface="Times New Roman" pitchFamily="18" charset="0"/>
              </a:rPr>
              <a:t>Project Review Meeting  </a:t>
            </a:r>
            <a:br>
              <a:rPr lang="en-US" sz="2200" dirty="0">
                <a:latin typeface="Times New Roman" pitchFamily="18" charset="0"/>
                <a:cs typeface="Times New Roman" pitchFamily="18" charset="0"/>
              </a:rPr>
            </a:br>
            <a:r>
              <a:rPr lang="en-US" sz="2200" b="0" dirty="0">
                <a:solidFill>
                  <a:schemeClr val="tx1"/>
                </a:solidFill>
                <a:latin typeface="Times New Roman" pitchFamily="18" charset="0"/>
                <a:cs typeface="Times New Roman" pitchFamily="18" charset="0"/>
              </a:rPr>
              <a:t> on</a:t>
            </a:r>
            <a:br>
              <a:rPr lang="en-US" sz="2200" dirty="0">
                <a:latin typeface="Times New Roman" pitchFamily="18" charset="0"/>
                <a:cs typeface="Times New Roman" pitchFamily="18" charset="0"/>
              </a:rPr>
            </a:br>
            <a:r>
              <a:rPr lang="en-US" sz="3200" dirty="0">
                <a:latin typeface="Times New Roman" pitchFamily="18" charset="0"/>
                <a:cs typeface="Times New Roman" pitchFamily="18" charset="0"/>
              </a:rPr>
              <a:t> Passenger Name Record</a:t>
            </a:r>
            <a:endParaRPr lang="en-US" sz="4000" b="1" dirty="0">
              <a:latin typeface="Times New Roman" pitchFamily="18" charset="0"/>
              <a:cs typeface="Times New Roman" pitchFamily="18" charset="0"/>
            </a:endParaRPr>
          </a:p>
        </p:txBody>
      </p:sp>
      <p:sp>
        <p:nvSpPr>
          <p:cNvPr id="3" name="Subtitle 2"/>
          <p:cNvSpPr>
            <a:spLocks noGrp="1"/>
          </p:cNvSpPr>
          <p:nvPr>
            <p:ph type="subTitle" idx="1"/>
          </p:nvPr>
        </p:nvSpPr>
        <p:spPr>
          <a:xfrm>
            <a:off x="381000" y="1366277"/>
            <a:ext cx="8458200" cy="2895600"/>
          </a:xfrm>
        </p:spPr>
        <p:txBody>
          <a:bodyPr>
            <a:normAutofit fontScale="47500" lnSpcReduction="20000"/>
          </a:bodyPr>
          <a:lstStyle/>
          <a:p>
            <a:pPr marR="0" algn="ctr" eaLnBrk="1" hangingPunct="1">
              <a:lnSpc>
                <a:spcPct val="80000"/>
              </a:lnSpc>
              <a:defRPr/>
            </a:pPr>
            <a:endParaRPr lang="en-US" sz="2000" dirty="0">
              <a:solidFill>
                <a:srgbClr val="0D0D0D"/>
              </a:solidFill>
              <a:latin typeface="Times New Roman" pitchFamily="18" charset="0"/>
              <a:cs typeface="Times New Roman" pitchFamily="18" charset="0"/>
            </a:endParaRPr>
          </a:p>
          <a:p>
            <a:pPr marR="0" algn="ctr" eaLnBrk="1" hangingPunct="1">
              <a:lnSpc>
                <a:spcPct val="80000"/>
              </a:lnSpc>
              <a:defRPr/>
            </a:pPr>
            <a:endParaRPr lang="en-US" sz="2600" b="1" dirty="0">
              <a:solidFill>
                <a:srgbClr val="00B0F0"/>
              </a:solidFill>
              <a:latin typeface="Times New Roman" pitchFamily="18" charset="0"/>
              <a:cs typeface="Times New Roman" pitchFamily="18" charset="0"/>
            </a:endParaRPr>
          </a:p>
          <a:p>
            <a:pPr marR="0" algn="ctr" eaLnBrk="1" hangingPunct="1">
              <a:lnSpc>
                <a:spcPct val="80000"/>
              </a:lnSpc>
              <a:defRPr/>
            </a:pPr>
            <a:r>
              <a:rPr lang="en-US" sz="2600" b="1" dirty="0">
                <a:solidFill>
                  <a:srgbClr val="00B0F0"/>
                </a:solidFill>
                <a:latin typeface="Times New Roman" pitchFamily="18" charset="0"/>
                <a:cs typeface="Times New Roman" pitchFamily="18" charset="0"/>
              </a:rPr>
              <a:t>By</a:t>
            </a:r>
          </a:p>
          <a:p>
            <a:pPr marR="0" algn="ctr" eaLnBrk="1" hangingPunct="1">
              <a:lnSpc>
                <a:spcPct val="80000"/>
              </a:lnSpc>
              <a:defRPr/>
            </a:pPr>
            <a:endParaRPr lang="en-US" sz="2600" b="1" dirty="0">
              <a:solidFill>
                <a:srgbClr val="00B0F0"/>
              </a:solidFill>
              <a:latin typeface="Times New Roman" pitchFamily="18" charset="0"/>
              <a:cs typeface="Times New Roman" pitchFamily="18" charset="0"/>
            </a:endParaRPr>
          </a:p>
          <a:p>
            <a:pPr marR="0" algn="ctr" eaLnBrk="1" hangingPunct="1">
              <a:lnSpc>
                <a:spcPct val="80000"/>
              </a:lnSpc>
              <a:defRPr/>
            </a:pPr>
            <a:r>
              <a:rPr lang="en-US" sz="3300" dirty="0">
                <a:solidFill>
                  <a:srgbClr val="0D0D0D"/>
                </a:solidFill>
                <a:latin typeface="Times New Roman" pitchFamily="18" charset="0"/>
                <a:cs typeface="Times New Roman" pitchFamily="18" charset="0"/>
              </a:rPr>
              <a:t>Name:  BHANU JAKKA           Roll No:2520030006</a:t>
            </a:r>
          </a:p>
          <a:p>
            <a:pPr marR="0" algn="ctr" eaLnBrk="1" hangingPunct="1">
              <a:lnSpc>
                <a:spcPct val="80000"/>
              </a:lnSpc>
              <a:defRPr/>
            </a:pPr>
            <a:r>
              <a:rPr lang="en-US" sz="3300" dirty="0">
                <a:solidFill>
                  <a:srgbClr val="0D0D0D"/>
                </a:solidFill>
                <a:latin typeface="Times New Roman" pitchFamily="18" charset="0"/>
                <a:cs typeface="Times New Roman" pitchFamily="18" charset="0"/>
              </a:rPr>
              <a:t>Name: HAVISHAA REDDY      Roll No: 2520030371  </a:t>
            </a:r>
            <a:endParaRPr lang="en-US" sz="3600" b="1" dirty="0">
              <a:solidFill>
                <a:srgbClr val="00B0F0"/>
              </a:solidFill>
              <a:latin typeface="Times New Roman" pitchFamily="18" charset="0"/>
              <a:cs typeface="Times New Roman" pitchFamily="18" charset="0"/>
            </a:endParaRPr>
          </a:p>
          <a:p>
            <a:pPr>
              <a:lnSpc>
                <a:spcPct val="80000"/>
              </a:lnSpc>
              <a:defRPr/>
            </a:pPr>
            <a:r>
              <a:rPr lang="en-US" sz="3600" b="1" dirty="0">
                <a:solidFill>
                  <a:srgbClr val="00B0F0"/>
                </a:solidFill>
                <a:latin typeface="Times New Roman" pitchFamily="18" charset="0"/>
                <a:cs typeface="Times New Roman" pitchFamily="18" charset="0"/>
              </a:rPr>
              <a:t>Team Number: 17</a:t>
            </a:r>
          </a:p>
          <a:p>
            <a:pPr marR="0" algn="ctr" eaLnBrk="1" hangingPunct="1">
              <a:lnSpc>
                <a:spcPct val="80000"/>
              </a:lnSpc>
              <a:defRPr/>
            </a:pPr>
            <a:endParaRPr lang="en-US" sz="3300" dirty="0">
              <a:solidFill>
                <a:srgbClr val="0D0D0D"/>
              </a:solidFill>
              <a:latin typeface="Times New Roman" pitchFamily="18" charset="0"/>
              <a:cs typeface="Times New Roman" pitchFamily="18" charset="0"/>
            </a:endParaRPr>
          </a:p>
          <a:p>
            <a:pPr marR="0" algn="ctr" eaLnBrk="1" hangingPunct="1">
              <a:lnSpc>
                <a:spcPct val="80000"/>
              </a:lnSpc>
              <a:defRPr/>
            </a:pPr>
            <a:endParaRPr lang="en-US" sz="1300" b="1" dirty="0">
              <a:solidFill>
                <a:srgbClr val="FF0000"/>
              </a:solidFill>
              <a:latin typeface="Times New Roman" pitchFamily="18" charset="0"/>
              <a:cs typeface="Times New Roman" pitchFamily="18" charset="0"/>
            </a:endParaRPr>
          </a:p>
          <a:p>
            <a:pPr marR="0" algn="ctr" eaLnBrk="1" hangingPunct="1">
              <a:lnSpc>
                <a:spcPct val="80000"/>
              </a:lnSpc>
              <a:defRPr/>
            </a:pPr>
            <a:r>
              <a:rPr lang="en-GB" sz="3300" b="1" i="1" dirty="0">
                <a:solidFill>
                  <a:srgbClr val="FF0000"/>
                </a:solidFill>
                <a:effectLst/>
                <a:latin typeface="Times New Roman" panose="02020603050405020304" pitchFamily="18" charset="0"/>
                <a:ea typeface="Times New Roman" panose="02020603050405020304" pitchFamily="18" charset="0"/>
              </a:rPr>
              <a:t>Under the guidance of </a:t>
            </a:r>
          </a:p>
          <a:p>
            <a:pPr marR="0" algn="ctr" eaLnBrk="1" hangingPunct="1">
              <a:lnSpc>
                <a:spcPct val="80000"/>
              </a:lnSpc>
              <a:defRPr/>
            </a:pPr>
            <a:endParaRPr lang="en-US" sz="2400" dirty="0">
              <a:solidFill>
                <a:srgbClr val="0D0D0D"/>
              </a:solidFill>
              <a:latin typeface="Times New Roman" pitchFamily="18" charset="0"/>
              <a:cs typeface="Times New Roman" pitchFamily="18" charset="0"/>
            </a:endParaRPr>
          </a:p>
          <a:p>
            <a:pPr marR="0" algn="ctr" eaLnBrk="1" hangingPunct="1">
              <a:lnSpc>
                <a:spcPct val="80000"/>
              </a:lnSpc>
              <a:defRPr/>
            </a:pPr>
            <a:r>
              <a:rPr lang="en-US" sz="3400" b="1" dirty="0">
                <a:solidFill>
                  <a:srgbClr val="00B0F0"/>
                </a:solidFill>
                <a:latin typeface="Times New Roman" pitchFamily="18" charset="0"/>
                <a:cs typeface="Times New Roman" pitchFamily="18" charset="0"/>
              </a:rPr>
              <a:t>D. PAVITHRA</a:t>
            </a:r>
          </a:p>
          <a:p>
            <a:pPr marR="0" algn="ctr" eaLnBrk="1" hangingPunct="1">
              <a:lnSpc>
                <a:spcPct val="80000"/>
              </a:lnSpc>
              <a:defRPr/>
            </a:pPr>
            <a:r>
              <a:rPr lang="en-US" sz="3400" b="1" dirty="0">
                <a:solidFill>
                  <a:srgbClr val="00B0F0"/>
                </a:solidFill>
                <a:latin typeface="Times New Roman" pitchFamily="18" charset="0"/>
                <a:cs typeface="Times New Roman" pitchFamily="18" charset="0"/>
              </a:rPr>
              <a:t>Assistant Professor</a:t>
            </a:r>
          </a:p>
          <a:p>
            <a:pPr marR="0" algn="ctr" eaLnBrk="1" hangingPunct="1">
              <a:lnSpc>
                <a:spcPct val="80000"/>
              </a:lnSpc>
              <a:defRPr/>
            </a:pPr>
            <a:endParaRPr lang="en-US" sz="2400" b="1" dirty="0">
              <a:solidFill>
                <a:srgbClr val="0070C0"/>
              </a:solidFill>
              <a:latin typeface="Times New Roman" pitchFamily="18" charset="0"/>
              <a:cs typeface="Times New Roman" pitchFamily="18" charset="0"/>
            </a:endParaRPr>
          </a:p>
          <a:p>
            <a:pPr marR="0" algn="ctr" eaLnBrk="1" hangingPunct="1">
              <a:lnSpc>
                <a:spcPct val="80000"/>
              </a:lnSpc>
              <a:defRPr/>
            </a:pPr>
            <a:r>
              <a:rPr lang="en-US" sz="4400" b="1" dirty="0">
                <a:solidFill>
                  <a:srgbClr val="0070C0"/>
                </a:solidFill>
                <a:latin typeface="Times New Roman" pitchFamily="18" charset="0"/>
                <a:cs typeface="Times New Roman" pitchFamily="18" charset="0"/>
              </a:rPr>
              <a:t>Department of Computer Science and Engineering</a:t>
            </a:r>
          </a:p>
          <a:p>
            <a:pPr marR="0" eaLnBrk="1" hangingPunct="1">
              <a:lnSpc>
                <a:spcPct val="80000"/>
              </a:lnSpc>
              <a:defRPr/>
            </a:pPr>
            <a:r>
              <a:rPr lang="en-US" sz="2400" b="1" dirty="0">
                <a:solidFill>
                  <a:srgbClr val="0D0D0D"/>
                </a:solidFill>
                <a:latin typeface="Times New Roman" pitchFamily="18" charset="0"/>
                <a:cs typeface="Times New Roman" pitchFamily="18" charset="0"/>
              </a:rPr>
              <a:t>                                                </a:t>
            </a:r>
            <a:r>
              <a:rPr lang="en-US" sz="2400" dirty="0">
                <a:solidFill>
                  <a:srgbClr val="0D0D0D"/>
                </a:solidFill>
                <a:latin typeface="Times New Roman" pitchFamily="18" charset="0"/>
                <a:cs typeface="Times New Roman" pitchFamily="18" charset="0"/>
              </a:rPr>
              <a:t>                                                                          </a:t>
            </a:r>
          </a:p>
        </p:txBody>
      </p:sp>
      <p:sp>
        <p:nvSpPr>
          <p:cNvPr id="13" name="TextBox 12">
            <a:extLst>
              <a:ext uri="{FF2B5EF4-FFF2-40B4-BE49-F238E27FC236}">
                <a16:creationId xmlns:a16="http://schemas.microsoft.com/office/drawing/2014/main" id="{BF7BED8D-5B4C-C6AD-A1A2-3B730E16187D}"/>
              </a:ext>
            </a:extLst>
          </p:cNvPr>
          <p:cNvSpPr txBox="1"/>
          <p:nvPr/>
        </p:nvSpPr>
        <p:spPr>
          <a:xfrm>
            <a:off x="349155" y="5257800"/>
            <a:ext cx="9144000" cy="1365695"/>
          </a:xfrm>
          <a:prstGeom prst="rect">
            <a:avLst/>
          </a:prstGeom>
          <a:noFill/>
        </p:spPr>
        <p:txBody>
          <a:bodyPr wrap="square">
            <a:spAutoFit/>
          </a:bodyPr>
          <a:lstStyle/>
          <a:p>
            <a:pPr marL="0" marR="0" algn="ctr">
              <a:lnSpc>
                <a:spcPct val="107000"/>
              </a:lnSpc>
              <a:spcBef>
                <a:spcPts val="1555"/>
              </a:spcBef>
              <a:spcAft>
                <a:spcPts val="800"/>
              </a:spcAft>
            </a:pPr>
            <a:r>
              <a:rPr lang="en-GB" sz="2800" b="1" kern="100" dirty="0">
                <a:effectLst/>
                <a:latin typeface="Times New Roman" panose="02020603050405020304" pitchFamily="18" charset="0"/>
                <a:ea typeface="Times New Roman" panose="02020603050405020304" pitchFamily="18" charset="0"/>
                <a:cs typeface="Times New Roman" panose="02020603050405020304" pitchFamily="18" charset="0"/>
              </a:rPr>
              <a:t>Koneru </a:t>
            </a:r>
            <a:r>
              <a:rPr lang="en-GB" sz="2800" b="1" kern="100" dirty="0" err="1">
                <a:effectLst/>
                <a:latin typeface="Times New Roman" panose="02020603050405020304" pitchFamily="18" charset="0"/>
                <a:ea typeface="Times New Roman" panose="02020603050405020304" pitchFamily="18" charset="0"/>
                <a:cs typeface="Times New Roman" panose="02020603050405020304" pitchFamily="18" charset="0"/>
              </a:rPr>
              <a:t>Lakshmaiah</a:t>
            </a:r>
            <a:r>
              <a:rPr lang="en-GB" sz="2800" b="1" kern="100" dirty="0">
                <a:effectLst/>
                <a:latin typeface="Times New Roman" panose="02020603050405020304" pitchFamily="18" charset="0"/>
                <a:ea typeface="Times New Roman" panose="02020603050405020304" pitchFamily="18" charset="0"/>
                <a:cs typeface="Times New Roman" panose="02020603050405020304" pitchFamily="18" charset="0"/>
              </a:rPr>
              <a:t> Education Foundation</a:t>
            </a:r>
            <a:br>
              <a:rPr lang="en-GB" b="1" kern="10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GB" b="1" kern="100" dirty="0">
                <a:effectLst/>
                <a:latin typeface="Times New Roman" panose="02020603050405020304" pitchFamily="18" charset="0"/>
                <a:ea typeface="Times New Roman" panose="02020603050405020304" pitchFamily="18" charset="0"/>
                <a:cs typeface="Times New Roman" panose="02020603050405020304" pitchFamily="18" charset="0"/>
              </a:rPr>
              <a:t>(Deemed to be University </a:t>
            </a:r>
            <a:r>
              <a:rPr lang="en-GB" b="1" kern="100" dirty="0" err="1">
                <a:effectLst/>
                <a:latin typeface="Times New Roman" panose="02020603050405020304" pitchFamily="18" charset="0"/>
                <a:ea typeface="Times New Roman" panose="02020603050405020304" pitchFamily="18" charset="0"/>
                <a:cs typeface="Times New Roman" panose="02020603050405020304" pitchFamily="18" charset="0"/>
              </a:rPr>
              <a:t>estd</a:t>
            </a:r>
            <a:r>
              <a:rPr lang="en-GB" b="1" kern="100" dirty="0">
                <a:effectLst/>
                <a:latin typeface="Times New Roman" panose="02020603050405020304" pitchFamily="18" charset="0"/>
                <a:ea typeface="Times New Roman" panose="02020603050405020304" pitchFamily="18" charset="0"/>
                <a:cs typeface="Times New Roman" panose="02020603050405020304" pitchFamily="18" charset="0"/>
              </a:rPr>
              <a:t>. u/s. 3 of the UGC Act, 1956)</a:t>
            </a:r>
            <a:br>
              <a:rPr lang="en-GB" b="1" kern="10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t>Off-Campus: </a:t>
            </a:r>
            <a:r>
              <a:rPr lang="en-GB" sz="1600" b="1" kern="100" dirty="0" err="1">
                <a:effectLst/>
                <a:latin typeface="Times New Roman" panose="02020603050405020304" pitchFamily="18" charset="0"/>
                <a:ea typeface="Times New Roman" panose="02020603050405020304" pitchFamily="18" charset="0"/>
                <a:cs typeface="Times New Roman" panose="02020603050405020304" pitchFamily="18" charset="0"/>
              </a:rPr>
              <a:t>Bachupally-Gandimaisamma</a:t>
            </a:r>
            <a: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t> Road, </a:t>
            </a:r>
            <a:r>
              <a:rPr lang="en-GB" sz="1600" b="1" kern="100" dirty="0" err="1">
                <a:effectLst/>
                <a:latin typeface="Times New Roman" panose="02020603050405020304" pitchFamily="18" charset="0"/>
                <a:ea typeface="Times New Roman" panose="02020603050405020304" pitchFamily="18" charset="0"/>
                <a:cs typeface="Times New Roman" panose="02020603050405020304" pitchFamily="18" charset="0"/>
              </a:rPr>
              <a:t>Bowrampet</a:t>
            </a:r>
            <a: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t>, Hyderabad, Telangana - 500 043.</a:t>
            </a:r>
            <a:b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t>Phone No: 7815926816, </a:t>
            </a:r>
            <a:r>
              <a:rPr lang="en-GB" sz="1600" b="1" u="sng" kern="100" dirty="0">
                <a:solidFill>
                  <a:srgbClr val="467886"/>
                </a:solidFill>
                <a:effectLst/>
                <a:latin typeface="Times New Roman" panose="02020603050405020304" pitchFamily="18" charset="0"/>
                <a:ea typeface="Times New Roman" panose="02020603050405020304" pitchFamily="18" charset="0"/>
                <a:cs typeface="Times New Roman" panose="02020603050405020304" pitchFamily="18" charset="0"/>
                <a:hlinkClick r:id="rId2"/>
              </a:rPr>
              <a:t>www.klh.edu.in</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p:txBody>
      </p:sp>
      <p:pic>
        <p:nvPicPr>
          <p:cNvPr id="5" name="Picture 4">
            <a:extLst>
              <a:ext uri="{FF2B5EF4-FFF2-40B4-BE49-F238E27FC236}">
                <a16:creationId xmlns:a16="http://schemas.microsoft.com/office/drawing/2014/main" id="{A2923E41-97D0-4F6C-49B5-B2194BF28C7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15014" y="3969193"/>
            <a:ext cx="2499986" cy="125304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60336"/>
            <a:ext cx="8229600" cy="1143000"/>
          </a:xfrm>
        </p:spPr>
        <p:txBody>
          <a:bodyPr>
            <a:normAutofit/>
          </a:bodyPr>
          <a:lstStyle/>
          <a:p>
            <a:r>
              <a:rPr lang="en-US" sz="2800" b="1" dirty="0">
                <a:solidFill>
                  <a:srgbClr val="0070C0"/>
                </a:solidFill>
                <a:latin typeface="Times New Roman" pitchFamily="18" charset="0"/>
                <a:cs typeface="Times New Roman" pitchFamily="18" charset="0"/>
              </a:rPr>
              <a:t>Outline of the Presentation</a:t>
            </a:r>
          </a:p>
        </p:txBody>
      </p:sp>
      <p:sp>
        <p:nvSpPr>
          <p:cNvPr id="3" name="Content Placeholder 2"/>
          <p:cNvSpPr>
            <a:spLocks noGrp="1"/>
          </p:cNvSpPr>
          <p:nvPr>
            <p:ph idx="1"/>
          </p:nvPr>
        </p:nvSpPr>
        <p:spPr>
          <a:xfrm>
            <a:off x="304800" y="1447801"/>
            <a:ext cx="8839200" cy="4678363"/>
          </a:xfrm>
        </p:spPr>
        <p:txBody>
          <a:bodyPr>
            <a:normAutofit fontScale="92500" lnSpcReduction="10000"/>
          </a:bodyPr>
          <a:lstStyle/>
          <a:p>
            <a:r>
              <a:rPr lang="en-US" dirty="0">
                <a:latin typeface="Times New Roman" pitchFamily="18" charset="0"/>
                <a:cs typeface="Times New Roman" pitchFamily="18" charset="0"/>
              </a:rPr>
              <a:t>Abstract</a:t>
            </a:r>
          </a:p>
          <a:p>
            <a:r>
              <a:rPr lang="en-US" dirty="0">
                <a:latin typeface="Times New Roman" pitchFamily="18" charset="0"/>
                <a:cs typeface="Times New Roman" pitchFamily="18" charset="0"/>
              </a:rPr>
              <a:t>Introduction</a:t>
            </a:r>
          </a:p>
          <a:p>
            <a:r>
              <a:rPr lang="en-US" dirty="0">
                <a:latin typeface="Times New Roman" pitchFamily="18" charset="0"/>
                <a:cs typeface="Times New Roman" pitchFamily="18" charset="0"/>
              </a:rPr>
              <a:t>Problem Statement</a:t>
            </a:r>
          </a:p>
          <a:p>
            <a:r>
              <a:rPr lang="en-US" dirty="0">
                <a:latin typeface="Times New Roman" pitchFamily="18" charset="0"/>
                <a:cs typeface="Times New Roman" pitchFamily="18" charset="0"/>
              </a:rPr>
              <a:t>Project Flow Diagram</a:t>
            </a:r>
          </a:p>
          <a:p>
            <a:r>
              <a:rPr lang="en-US" dirty="0">
                <a:latin typeface="Times New Roman" pitchFamily="18" charset="0"/>
                <a:cs typeface="Times New Roman" pitchFamily="18" charset="0"/>
              </a:rPr>
              <a:t>Objectives with Justification</a:t>
            </a:r>
          </a:p>
          <a:p>
            <a:r>
              <a:rPr lang="en-US" dirty="0">
                <a:latin typeface="Times New Roman" pitchFamily="18" charset="0"/>
                <a:cs typeface="Times New Roman" pitchFamily="18" charset="0"/>
              </a:rPr>
              <a:t>Modules[Frontend web pages]</a:t>
            </a:r>
          </a:p>
          <a:p>
            <a:r>
              <a:rPr lang="en-US" dirty="0">
                <a:latin typeface="Times New Roman" pitchFamily="18" charset="0"/>
                <a:cs typeface="Times New Roman" pitchFamily="18" charset="0"/>
              </a:rPr>
              <a:t>Expected Outcomes of the Proposed Work</a:t>
            </a:r>
          </a:p>
          <a:p>
            <a:r>
              <a:rPr lang="en-US" dirty="0">
                <a:latin typeface="Times New Roman" pitchFamily="18" charset="0"/>
                <a:cs typeface="Times New Roman" pitchFamily="18" charset="0"/>
              </a:rPr>
              <a:t>Conclusion </a:t>
            </a:r>
          </a:p>
          <a:p>
            <a:r>
              <a:rPr lang="en-US" dirty="0">
                <a:latin typeface="Times New Roman" pitchFamily="18" charset="0"/>
                <a:cs typeface="Times New Roman" pitchFamily="18" charset="0"/>
              </a:rPr>
              <a:t>References</a:t>
            </a:r>
          </a:p>
          <a:p>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a:p>
            <a:endParaRPr lang="en-US" dirty="0"/>
          </a:p>
        </p:txBody>
      </p:sp>
      <p:pic>
        <p:nvPicPr>
          <p:cNvPr id="5" name="Picture 4">
            <a:extLst>
              <a:ext uri="{FF2B5EF4-FFF2-40B4-BE49-F238E27FC236}">
                <a16:creationId xmlns:a16="http://schemas.microsoft.com/office/drawing/2014/main" id="{08703F64-1981-E3B7-E2B4-D11A4F6B6EC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228599"/>
            <a:ext cx="1447800" cy="68580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solidFill>
                  <a:srgbClr val="0070C0"/>
                </a:solidFill>
                <a:latin typeface="Times New Roman" pitchFamily="18" charset="0"/>
                <a:cs typeface="Times New Roman" pitchFamily="18" charset="0"/>
              </a:rPr>
              <a:t>Abstract</a:t>
            </a:r>
            <a:endParaRPr lang="en-US" sz="2800" dirty="0"/>
          </a:p>
        </p:txBody>
      </p:sp>
      <p:sp>
        <p:nvSpPr>
          <p:cNvPr id="5" name="Content Placeholder 4">
            <a:extLst>
              <a:ext uri="{FF2B5EF4-FFF2-40B4-BE49-F238E27FC236}">
                <a16:creationId xmlns:a16="http://schemas.microsoft.com/office/drawing/2014/main" id="{44F074E8-72E0-E39A-EEE7-DFD44C874186}"/>
              </a:ext>
            </a:extLst>
          </p:cNvPr>
          <p:cNvSpPr>
            <a:spLocks noGrp="1"/>
          </p:cNvSpPr>
          <p:nvPr>
            <p:ph idx="1"/>
          </p:nvPr>
        </p:nvSpPr>
        <p:spPr>
          <a:xfrm>
            <a:off x="457200" y="1417639"/>
            <a:ext cx="8229600" cy="4708526"/>
          </a:xfrm>
        </p:spPr>
        <p:txBody>
          <a:bodyPr>
            <a:noAutofit/>
          </a:bodyPr>
          <a:lstStyle/>
          <a:p>
            <a:r>
              <a:rPr lang="en-IN" sz="2000" dirty="0"/>
              <a:t>The Passenger Name Record (PNR) Manager is a web-based application developed to simplify and streamline the management of airline booking records. A PNR is a unique 6-digit alphanumeric code assigned to each passenger’s booking, which acts as a reference to access complete travel information.</a:t>
            </a:r>
          </a:p>
          <a:p>
            <a:r>
              <a:rPr lang="en-IN" sz="2000" dirty="0"/>
              <a:t> It stores essential details such as passenger information, flight itinerary, seat allocation, and Special Service Requests (SSR) like meal preferences or special assistance. Efficient management of PNR data is crucial for airline operations, as it directly impacts service quality and operational accuracy. </a:t>
            </a:r>
            <a:endParaRPr lang="en-GB" sz="2000" dirty="0"/>
          </a:p>
          <a:p>
            <a:r>
              <a:rPr lang="en-IN" sz="2000" dirty="0"/>
              <a:t>This system provides a centralized platform where users can easily search, view, modify, and cancel PNR records. The search functionality enables quick retrieval of booking details using the PNR code or passenger-related information. The detailed view displays all relevant data in a structured format, allowing users to clearly understand and manage bookings. </a:t>
            </a:r>
            <a:endParaRPr lang="en-US" sz="2000" dirty="0"/>
          </a:p>
        </p:txBody>
      </p:sp>
      <p:pic>
        <p:nvPicPr>
          <p:cNvPr id="3" name="Picture 2">
            <a:extLst>
              <a:ext uri="{FF2B5EF4-FFF2-40B4-BE49-F238E27FC236}">
                <a16:creationId xmlns:a16="http://schemas.microsoft.com/office/drawing/2014/main" id="{72D39851-D9C0-A33B-6D40-99E6F7DCA5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228599"/>
            <a:ext cx="1524000" cy="685801"/>
          </a:xfrm>
          <a:prstGeom prst="rect">
            <a:avLst/>
          </a:prstGeom>
          <a:noFill/>
          <a:ln>
            <a:noFill/>
          </a:ln>
        </p:spPr>
      </p:pic>
    </p:spTree>
    <p:extLst>
      <p:ext uri="{BB962C8B-B14F-4D97-AF65-F5344CB8AC3E}">
        <p14:creationId xmlns:p14="http://schemas.microsoft.com/office/powerpoint/2010/main" val="40571793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solidFill>
                  <a:srgbClr val="0070C0"/>
                </a:solidFill>
                <a:latin typeface="Times New Roman" pitchFamily="18" charset="0"/>
                <a:cs typeface="Times New Roman" pitchFamily="18" charset="0"/>
              </a:rPr>
              <a:t>Abstract</a:t>
            </a:r>
            <a:endParaRPr lang="en-US" sz="2800" dirty="0"/>
          </a:p>
        </p:txBody>
      </p:sp>
      <p:sp>
        <p:nvSpPr>
          <p:cNvPr id="5" name="Content Placeholder 4">
            <a:extLst>
              <a:ext uri="{FF2B5EF4-FFF2-40B4-BE49-F238E27FC236}">
                <a16:creationId xmlns:a16="http://schemas.microsoft.com/office/drawing/2014/main" id="{44F074E8-72E0-E39A-EEE7-DFD44C874186}"/>
              </a:ext>
            </a:extLst>
          </p:cNvPr>
          <p:cNvSpPr>
            <a:spLocks noGrp="1"/>
          </p:cNvSpPr>
          <p:nvPr>
            <p:ph idx="1"/>
          </p:nvPr>
        </p:nvSpPr>
        <p:spPr>
          <a:xfrm>
            <a:off x="457200" y="1417639"/>
            <a:ext cx="8229600" cy="4708526"/>
          </a:xfrm>
        </p:spPr>
        <p:txBody>
          <a:bodyPr>
            <a:normAutofit fontScale="92500" lnSpcReduction="20000"/>
          </a:bodyPr>
          <a:lstStyle/>
          <a:p>
            <a:pPr marL="0" indent="0">
              <a:buNone/>
            </a:pPr>
            <a:endParaRPr lang="en-IN" sz="2200" dirty="0"/>
          </a:p>
          <a:p>
            <a:r>
              <a:rPr lang="en-IN" sz="2200" dirty="0"/>
              <a:t>The modify and cancel features provide flexibility in handling changes, while SSR management ensures that specific passenger requirements are properly addressed. </a:t>
            </a:r>
          </a:p>
          <a:p>
            <a:pPr marL="0" indent="0">
              <a:buNone/>
            </a:pPr>
            <a:endParaRPr lang="en-GB" sz="2200" dirty="0"/>
          </a:p>
          <a:p>
            <a:r>
              <a:rPr lang="en-IN" sz="2200" dirty="0"/>
              <a:t>A key feature of the system is the audit trail, which records every action performed on a PNR, including updates and cancellations. This enhances transparency, accountability, and system monitoring. Additional features such as notifications, history tracking, and data export further improve usability and functionality. </a:t>
            </a:r>
            <a:endParaRPr lang="en-GB" sz="2200" dirty="0"/>
          </a:p>
          <a:p>
            <a:pPr marL="0" indent="0">
              <a:buNone/>
            </a:pPr>
            <a:endParaRPr lang="en-GB" sz="2200" dirty="0"/>
          </a:p>
          <a:p>
            <a:r>
              <a:rPr lang="en-IN" sz="2200" dirty="0"/>
              <a:t>The PNR Manager is built using modern web technologies, offering a responsive and user-friendly interface. By automating and centralizing booking operations, the system minimizes manual errors, saves time, and increases efficiency. Overall, it provides a reliable and structured solution for managing airline reservation data effectively.</a:t>
            </a:r>
            <a:endParaRPr lang="en-GB" sz="2200" dirty="0"/>
          </a:p>
          <a:p>
            <a:endParaRPr lang="en-US" dirty="0"/>
          </a:p>
        </p:txBody>
      </p:sp>
      <p:pic>
        <p:nvPicPr>
          <p:cNvPr id="3" name="Picture 2">
            <a:extLst>
              <a:ext uri="{FF2B5EF4-FFF2-40B4-BE49-F238E27FC236}">
                <a16:creationId xmlns:a16="http://schemas.microsoft.com/office/drawing/2014/main" id="{72D39851-D9C0-A33B-6D40-99E6F7DCA5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228599"/>
            <a:ext cx="1524000" cy="685801"/>
          </a:xfrm>
          <a:prstGeom prst="rect">
            <a:avLst/>
          </a:prstGeom>
          <a:noFill/>
          <a:ln>
            <a:noFill/>
          </a:ln>
        </p:spPr>
      </p:pic>
    </p:spTree>
    <p:extLst>
      <p:ext uri="{BB962C8B-B14F-4D97-AF65-F5344CB8AC3E}">
        <p14:creationId xmlns:p14="http://schemas.microsoft.com/office/powerpoint/2010/main" val="11557045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solidFill>
                  <a:srgbClr val="0070C0"/>
                </a:solidFill>
                <a:latin typeface="Times New Roman" pitchFamily="18" charset="0"/>
                <a:cs typeface="Times New Roman" pitchFamily="18" charset="0"/>
              </a:rPr>
              <a:t>Introduction</a:t>
            </a:r>
          </a:p>
        </p:txBody>
      </p:sp>
      <p:sp>
        <p:nvSpPr>
          <p:cNvPr id="5" name="Content Placeholder 4">
            <a:extLst>
              <a:ext uri="{FF2B5EF4-FFF2-40B4-BE49-F238E27FC236}">
                <a16:creationId xmlns:a16="http://schemas.microsoft.com/office/drawing/2014/main" id="{D37586B6-5276-B3E3-CFD5-8DB648A7A841}"/>
              </a:ext>
            </a:extLst>
          </p:cNvPr>
          <p:cNvSpPr>
            <a:spLocks noGrp="1"/>
          </p:cNvSpPr>
          <p:nvPr>
            <p:ph idx="1"/>
          </p:nvPr>
        </p:nvSpPr>
        <p:spPr>
          <a:xfrm>
            <a:off x="457200" y="1905000"/>
            <a:ext cx="8229600" cy="3733799"/>
          </a:xfrm>
        </p:spPr>
        <p:txBody>
          <a:bodyPr>
            <a:normAutofit fontScale="77500" lnSpcReduction="20000"/>
          </a:bodyPr>
          <a:lstStyle/>
          <a:p>
            <a:r>
              <a:rPr lang="en-US" dirty="0"/>
              <a:t>PNR is the fundamental database ledger holding an airline passenger's complete itinerary data.  </a:t>
            </a:r>
          </a:p>
          <a:p>
            <a:r>
              <a:rPr lang="en-US" dirty="0"/>
              <a:t>The Industry Problem: Legacy reservation networks suffer from communication lag, leading to data mismatches, audit trails errors.</a:t>
            </a:r>
          </a:p>
          <a:p>
            <a:r>
              <a:rPr lang="en-US" dirty="0"/>
              <a:t> Decoupled Multi-Portal Design: Independent, specialized interfaces tailored for Passengers (self-service) and Aviation Admins (manifest overrides). </a:t>
            </a:r>
          </a:p>
          <a:p>
            <a:r>
              <a:rPr lang="en-US" dirty="0"/>
              <a:t> Real-Time Data Flow: A centralized state architecture that synchronizes updates across both portals instantly with zero page-reloads.</a:t>
            </a:r>
          </a:p>
        </p:txBody>
      </p:sp>
      <p:pic>
        <p:nvPicPr>
          <p:cNvPr id="3" name="Picture 2">
            <a:extLst>
              <a:ext uri="{FF2B5EF4-FFF2-40B4-BE49-F238E27FC236}">
                <a16:creationId xmlns:a16="http://schemas.microsoft.com/office/drawing/2014/main" id="{54B39558-3DAD-272B-5CA3-14B0A3E7EC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228599"/>
            <a:ext cx="1447800" cy="60960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91927C-18CB-E7CD-17FE-184519BC80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50BF7C-4E42-3323-319A-9E8717B94BB8}"/>
              </a:ext>
            </a:extLst>
          </p:cNvPr>
          <p:cNvSpPr>
            <a:spLocks noGrp="1"/>
          </p:cNvSpPr>
          <p:nvPr>
            <p:ph type="title"/>
          </p:nvPr>
        </p:nvSpPr>
        <p:spPr/>
        <p:txBody>
          <a:bodyPr>
            <a:normAutofit/>
          </a:bodyPr>
          <a:lstStyle/>
          <a:p>
            <a:r>
              <a:rPr lang="en-US" sz="2800" b="1" dirty="0">
                <a:solidFill>
                  <a:srgbClr val="0070C0"/>
                </a:solidFill>
                <a:latin typeface="Times New Roman" pitchFamily="18" charset="0"/>
                <a:cs typeface="Times New Roman" pitchFamily="18" charset="0"/>
              </a:rPr>
              <a:t>Problem Statement</a:t>
            </a:r>
            <a:br>
              <a:rPr lang="en-US" sz="2800" b="1" dirty="0">
                <a:solidFill>
                  <a:srgbClr val="0070C0"/>
                </a:solidFill>
                <a:latin typeface="Times New Roman" pitchFamily="18" charset="0"/>
                <a:cs typeface="Times New Roman" pitchFamily="18" charset="0"/>
              </a:rPr>
            </a:br>
            <a:endParaRPr lang="en-US" sz="2800" b="1" dirty="0">
              <a:solidFill>
                <a:srgbClr val="0070C0"/>
              </a:solidFill>
              <a:latin typeface="Times New Roman" pitchFamily="18" charset="0"/>
              <a:cs typeface="Times New Roman" pitchFamily="18" charset="0"/>
            </a:endParaRPr>
          </a:p>
        </p:txBody>
      </p:sp>
      <p:pic>
        <p:nvPicPr>
          <p:cNvPr id="3" name="Picture 2">
            <a:extLst>
              <a:ext uri="{FF2B5EF4-FFF2-40B4-BE49-F238E27FC236}">
                <a16:creationId xmlns:a16="http://schemas.microsoft.com/office/drawing/2014/main" id="{01A8919B-D2F8-AD13-EF7B-0B064723F91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157795"/>
            <a:ext cx="1447800" cy="609601"/>
          </a:xfrm>
          <a:prstGeom prst="rect">
            <a:avLst/>
          </a:prstGeom>
          <a:noFill/>
          <a:ln>
            <a:noFill/>
          </a:ln>
        </p:spPr>
      </p:pic>
      <p:sp>
        <p:nvSpPr>
          <p:cNvPr id="5" name="Content Placeholder 4">
            <a:extLst>
              <a:ext uri="{FF2B5EF4-FFF2-40B4-BE49-F238E27FC236}">
                <a16:creationId xmlns:a16="http://schemas.microsoft.com/office/drawing/2014/main" id="{F373BC01-A584-4BEC-9604-C57CF917372B}"/>
              </a:ext>
            </a:extLst>
          </p:cNvPr>
          <p:cNvSpPr>
            <a:spLocks noGrp="1"/>
          </p:cNvSpPr>
          <p:nvPr>
            <p:ph idx="1"/>
          </p:nvPr>
        </p:nvSpPr>
        <p:spPr/>
        <p:txBody>
          <a:bodyPr>
            <a:normAutofit fontScale="70000" lnSpcReduction="20000"/>
          </a:bodyPr>
          <a:lstStyle/>
          <a:p>
            <a:r>
              <a:rPr lang="en-US" b="1" dirty="0"/>
              <a:t>Passenger Name Records (PNRs):</a:t>
            </a:r>
            <a:r>
              <a:rPr lang="en-US" dirty="0"/>
              <a:t> Core records storing passenger and flight details, but current systems lack transparency and efficient tracking of modifications or cancellations.</a:t>
            </a:r>
          </a:p>
          <a:p>
            <a:r>
              <a:rPr lang="en-US" b="1" dirty="0"/>
              <a:t>Audit Trails &amp; Accountability:</a:t>
            </a:r>
            <a:r>
              <a:rPr lang="en-US" dirty="0"/>
              <a:t> Airlines struggle to maintain accurate logs of booking actions, making accountability and record management difficult.</a:t>
            </a:r>
          </a:p>
          <a:p>
            <a:r>
              <a:rPr lang="en-US" b="1" dirty="0"/>
              <a:t>Special Service Requests (SSR):</a:t>
            </a:r>
            <a:r>
              <a:rPr lang="en-US" dirty="0"/>
              <a:t> Services like meals or medical assistance are often mishandled, while manual processes increase errors and delays.</a:t>
            </a:r>
          </a:p>
          <a:p>
            <a:r>
              <a:rPr lang="en-US" b="1" dirty="0"/>
              <a:t>Need for Modern Solution:</a:t>
            </a:r>
            <a:r>
              <a:rPr lang="en-US" dirty="0"/>
              <a:t> Traditional systems lack notifications, history tracking, and usability; a streamlined platform is required to integrate SSR handling, audit logging, and user‑friendly design for improved passenger experience.</a:t>
            </a:r>
          </a:p>
          <a:p>
            <a:endParaRPr lang="en-GB" dirty="0"/>
          </a:p>
        </p:txBody>
      </p:sp>
    </p:spTree>
    <p:extLst>
      <p:ext uri="{BB962C8B-B14F-4D97-AF65-F5344CB8AC3E}">
        <p14:creationId xmlns:p14="http://schemas.microsoft.com/office/powerpoint/2010/main" val="1330456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91927C-18CB-E7CD-17FE-184519BC80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50BF7C-4E42-3323-319A-9E8717B94BB8}"/>
              </a:ext>
            </a:extLst>
          </p:cNvPr>
          <p:cNvSpPr>
            <a:spLocks noGrp="1"/>
          </p:cNvSpPr>
          <p:nvPr>
            <p:ph type="title"/>
          </p:nvPr>
        </p:nvSpPr>
        <p:spPr/>
        <p:txBody>
          <a:bodyPr>
            <a:normAutofit/>
          </a:bodyPr>
          <a:lstStyle/>
          <a:p>
            <a:r>
              <a:rPr lang="en-US" sz="2800" b="1" dirty="0">
                <a:solidFill>
                  <a:srgbClr val="0070C0"/>
                </a:solidFill>
                <a:latin typeface="Times New Roman" pitchFamily="18" charset="0"/>
                <a:cs typeface="Times New Roman" pitchFamily="18" charset="0"/>
              </a:rPr>
              <a:t>Project Flow Diagram</a:t>
            </a:r>
          </a:p>
        </p:txBody>
      </p:sp>
      <p:pic>
        <p:nvPicPr>
          <p:cNvPr id="3" name="Picture 2">
            <a:extLst>
              <a:ext uri="{FF2B5EF4-FFF2-40B4-BE49-F238E27FC236}">
                <a16:creationId xmlns:a16="http://schemas.microsoft.com/office/drawing/2014/main" id="{01A8919B-D2F8-AD13-EF7B-0B064723F91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157795"/>
            <a:ext cx="1447800" cy="609601"/>
          </a:xfrm>
          <a:prstGeom prst="rect">
            <a:avLst/>
          </a:prstGeom>
          <a:noFill/>
          <a:ln>
            <a:noFill/>
          </a:ln>
        </p:spPr>
      </p:pic>
      <p:pic>
        <p:nvPicPr>
          <p:cNvPr id="13" name="Content Placeholder 12">
            <a:extLst>
              <a:ext uri="{FF2B5EF4-FFF2-40B4-BE49-F238E27FC236}">
                <a16:creationId xmlns:a16="http://schemas.microsoft.com/office/drawing/2014/main" id="{3D3A4B94-7B4F-42F4-AC33-0F93BF88D666}"/>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333669" y="1600200"/>
            <a:ext cx="6476661" cy="4525963"/>
          </a:xfrm>
        </p:spPr>
      </p:pic>
    </p:spTree>
    <p:extLst>
      <p:ext uri="{BB962C8B-B14F-4D97-AF65-F5344CB8AC3E}">
        <p14:creationId xmlns:p14="http://schemas.microsoft.com/office/powerpoint/2010/main" val="27039695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91927C-18CB-E7CD-17FE-184519BC80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50BF7C-4E42-3323-319A-9E8717B94BB8}"/>
              </a:ext>
            </a:extLst>
          </p:cNvPr>
          <p:cNvSpPr>
            <a:spLocks noGrp="1"/>
          </p:cNvSpPr>
          <p:nvPr>
            <p:ph type="title"/>
          </p:nvPr>
        </p:nvSpPr>
        <p:spPr/>
        <p:txBody>
          <a:bodyPr>
            <a:normAutofit/>
          </a:bodyPr>
          <a:lstStyle/>
          <a:p>
            <a:r>
              <a:rPr lang="en-US" sz="2800" b="1" dirty="0">
                <a:solidFill>
                  <a:srgbClr val="0070C0"/>
                </a:solidFill>
                <a:latin typeface="Times New Roman" pitchFamily="18" charset="0"/>
                <a:cs typeface="Times New Roman" pitchFamily="18" charset="0"/>
              </a:rPr>
              <a:t>Objectives with Justification</a:t>
            </a:r>
            <a:br>
              <a:rPr lang="en-US" sz="2800" b="1" dirty="0">
                <a:solidFill>
                  <a:srgbClr val="0070C0"/>
                </a:solidFill>
                <a:latin typeface="Times New Roman" pitchFamily="18" charset="0"/>
                <a:cs typeface="Times New Roman" pitchFamily="18" charset="0"/>
              </a:rPr>
            </a:br>
            <a:endParaRPr lang="en-US" sz="2800" b="1" dirty="0">
              <a:solidFill>
                <a:srgbClr val="0070C0"/>
              </a:solidFill>
              <a:latin typeface="Times New Roman" pitchFamily="18" charset="0"/>
              <a:cs typeface="Times New Roman" pitchFamily="18" charset="0"/>
            </a:endParaRPr>
          </a:p>
        </p:txBody>
      </p:sp>
      <p:sp>
        <p:nvSpPr>
          <p:cNvPr id="5" name="Content Placeholder 4">
            <a:extLst>
              <a:ext uri="{FF2B5EF4-FFF2-40B4-BE49-F238E27FC236}">
                <a16:creationId xmlns:a16="http://schemas.microsoft.com/office/drawing/2014/main" id="{1C7B0B59-E773-3598-767E-554F3BF62EB8}"/>
              </a:ext>
            </a:extLst>
          </p:cNvPr>
          <p:cNvSpPr>
            <a:spLocks noGrp="1"/>
          </p:cNvSpPr>
          <p:nvPr>
            <p:ph idx="1"/>
          </p:nvPr>
        </p:nvSpPr>
        <p:spPr/>
        <p:txBody>
          <a:bodyPr>
            <a:normAutofit fontScale="62500" lnSpcReduction="20000"/>
          </a:bodyPr>
          <a:lstStyle/>
          <a:p>
            <a:pPr marL="0" indent="0">
              <a:buNone/>
            </a:pPr>
            <a:r>
              <a:rPr lang="en-US" b="1" dirty="0"/>
              <a:t>      Objectives with Justification:</a:t>
            </a:r>
            <a:br>
              <a:rPr lang="en-US" b="1" dirty="0"/>
            </a:br>
            <a:endParaRPr lang="en-US" dirty="0"/>
          </a:p>
          <a:p>
            <a:r>
              <a:rPr lang="en-US" b="1" dirty="0"/>
              <a:t>Transparent PNR Management</a:t>
            </a:r>
            <a:r>
              <a:rPr lang="en-US" dirty="0"/>
              <a:t> – To ensure clear tracking of modifications and cancellations, reducing disputes and confusion.</a:t>
            </a:r>
          </a:p>
          <a:p>
            <a:r>
              <a:rPr lang="en-US" b="1" dirty="0"/>
              <a:t>Efficient SSR Handling</a:t>
            </a:r>
            <a:r>
              <a:rPr lang="en-US" dirty="0"/>
              <a:t> – To manage passenger needs like meals, wheelchair assistance, or medical support in a streamlined way.</a:t>
            </a:r>
          </a:p>
          <a:p>
            <a:r>
              <a:rPr lang="en-US" b="1" dirty="0"/>
              <a:t>Error Reduction</a:t>
            </a:r>
            <a:r>
              <a:rPr lang="en-US" dirty="0"/>
              <a:t> – To minimize manual mistakes and inconsistencies by automating record updates.</a:t>
            </a:r>
          </a:p>
          <a:p>
            <a:r>
              <a:rPr lang="en-US" b="1" dirty="0"/>
              <a:t>User‑Friendly Interface</a:t>
            </a:r>
            <a:r>
              <a:rPr lang="en-US" dirty="0"/>
              <a:t> – To simplify operations for both staff and passengers, making the system easy to use.</a:t>
            </a:r>
          </a:p>
          <a:p>
            <a:r>
              <a:rPr lang="en-US" b="1" dirty="0"/>
              <a:t>Booking History Tracking</a:t>
            </a:r>
            <a:r>
              <a:rPr lang="en-US" dirty="0"/>
              <a:t> – To provide accountability and quick access to past records for better management.</a:t>
            </a:r>
          </a:p>
          <a:p>
            <a:r>
              <a:rPr lang="en-US" b="1" dirty="0"/>
              <a:t>Real‑Time Notifications</a:t>
            </a:r>
            <a:r>
              <a:rPr lang="en-US" dirty="0"/>
              <a:t> – To keep passengers and staff updated instantly about booking changes.</a:t>
            </a:r>
          </a:p>
          <a:p>
            <a:r>
              <a:rPr lang="en-US" b="1" dirty="0"/>
              <a:t>Scalability and Security</a:t>
            </a:r>
            <a:r>
              <a:rPr lang="en-US" dirty="0"/>
              <a:t> – To handle large volumes of data reliably while ensuring safe and secure record management.</a:t>
            </a:r>
          </a:p>
          <a:p>
            <a:endParaRPr lang="en-US" dirty="0"/>
          </a:p>
        </p:txBody>
      </p:sp>
      <p:pic>
        <p:nvPicPr>
          <p:cNvPr id="3" name="Picture 2">
            <a:extLst>
              <a:ext uri="{FF2B5EF4-FFF2-40B4-BE49-F238E27FC236}">
                <a16:creationId xmlns:a16="http://schemas.microsoft.com/office/drawing/2014/main" id="{01A8919B-D2F8-AD13-EF7B-0B064723F91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157795"/>
            <a:ext cx="1447800" cy="609601"/>
          </a:xfrm>
          <a:prstGeom prst="rect">
            <a:avLst/>
          </a:prstGeom>
          <a:noFill/>
          <a:ln>
            <a:noFill/>
          </a:ln>
        </p:spPr>
      </p:pic>
    </p:spTree>
    <p:extLst>
      <p:ext uri="{BB962C8B-B14F-4D97-AF65-F5344CB8AC3E}">
        <p14:creationId xmlns:p14="http://schemas.microsoft.com/office/powerpoint/2010/main" val="36033095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9F5BA9-1BD9-9B5B-2F31-1D5E87DEC0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3B2385-D33C-E0C3-891C-98EDDEA018B0}"/>
              </a:ext>
            </a:extLst>
          </p:cNvPr>
          <p:cNvSpPr>
            <a:spLocks noGrp="1"/>
          </p:cNvSpPr>
          <p:nvPr>
            <p:ph type="title"/>
          </p:nvPr>
        </p:nvSpPr>
        <p:spPr>
          <a:xfrm>
            <a:off x="1447800" y="274638"/>
            <a:ext cx="7467600" cy="944562"/>
          </a:xfrm>
        </p:spPr>
        <p:txBody>
          <a:bodyPr>
            <a:normAutofit/>
          </a:bodyPr>
          <a:lstStyle/>
          <a:p>
            <a:r>
              <a:rPr lang="en-US" sz="2800" b="1" dirty="0">
                <a:solidFill>
                  <a:srgbClr val="0070C0"/>
                </a:solidFill>
                <a:latin typeface="Times New Roman" pitchFamily="18" charset="0"/>
                <a:cs typeface="Times New Roman" pitchFamily="18" charset="0"/>
              </a:rPr>
              <a:t>Modules [Frontend web pages]</a:t>
            </a:r>
          </a:p>
        </p:txBody>
      </p:sp>
      <p:sp>
        <p:nvSpPr>
          <p:cNvPr id="5" name="Content Placeholder 4">
            <a:extLst>
              <a:ext uri="{FF2B5EF4-FFF2-40B4-BE49-F238E27FC236}">
                <a16:creationId xmlns:a16="http://schemas.microsoft.com/office/drawing/2014/main" id="{BA1E6E8A-A995-51F8-4B85-FB8AFDAF84E6}"/>
              </a:ext>
            </a:extLst>
          </p:cNvPr>
          <p:cNvSpPr>
            <a:spLocks noGrp="1"/>
          </p:cNvSpPr>
          <p:nvPr>
            <p:ph idx="1"/>
          </p:nvPr>
        </p:nvSpPr>
        <p:spPr>
          <a:xfrm>
            <a:off x="457200" y="1143000"/>
            <a:ext cx="8229600" cy="5440361"/>
          </a:xfrm>
        </p:spPr>
        <p:txBody>
          <a:bodyPr>
            <a:normAutofit fontScale="62500" lnSpcReduction="20000"/>
          </a:bodyPr>
          <a:lstStyle/>
          <a:p>
            <a:pPr marL="0" indent="0">
              <a:buNone/>
            </a:pPr>
            <a:r>
              <a:rPr lang="en-US" b="1" dirty="0"/>
              <a:t>Frontend Web Pages (Modules):</a:t>
            </a:r>
          </a:p>
          <a:p>
            <a:pPr marL="0" indent="0">
              <a:buNone/>
            </a:pPr>
            <a:endParaRPr lang="en-US" dirty="0"/>
          </a:p>
          <a:p>
            <a:r>
              <a:rPr lang="en-US" b="1" dirty="0"/>
              <a:t>Login Page</a:t>
            </a:r>
            <a:r>
              <a:rPr lang="en-US" dirty="0"/>
              <a:t> – Secure access for users and admins with proper validation.</a:t>
            </a:r>
          </a:p>
          <a:p>
            <a:r>
              <a:rPr lang="en-US" b="1" dirty="0"/>
              <a:t>Signup Page</a:t>
            </a:r>
            <a:r>
              <a:rPr lang="en-US" dirty="0"/>
              <a:t> – Registration for new users with form validation.</a:t>
            </a:r>
          </a:p>
          <a:p>
            <a:r>
              <a:rPr lang="en-US" b="1" dirty="0"/>
              <a:t>Dashboard </a:t>
            </a:r>
            <a:r>
              <a:rPr lang="en-US" dirty="0"/>
              <a:t>– Central hub showing booking overview and quick actions.</a:t>
            </a:r>
          </a:p>
          <a:p>
            <a:r>
              <a:rPr lang="en-US" b="1" dirty="0"/>
              <a:t>PNR Search Page</a:t>
            </a:r>
            <a:r>
              <a:rPr lang="en-US" dirty="0"/>
              <a:t> – Search by PNR number, passenger name, or flight details.</a:t>
            </a:r>
          </a:p>
          <a:p>
            <a:r>
              <a:rPr lang="en-US" b="1" dirty="0"/>
              <a:t>Detail View Page</a:t>
            </a:r>
            <a:r>
              <a:rPr lang="en-US" dirty="0"/>
              <a:t> – Displays complete passenger and flight information.</a:t>
            </a:r>
          </a:p>
          <a:p>
            <a:r>
              <a:rPr lang="en-US" b="1" dirty="0"/>
              <a:t>Modify Form Page</a:t>
            </a:r>
            <a:r>
              <a:rPr lang="en-US" dirty="0"/>
              <a:t>  – Allows authorized users to update booking details.</a:t>
            </a:r>
          </a:p>
          <a:p>
            <a:r>
              <a:rPr lang="en-US" b="1" dirty="0"/>
              <a:t>Cancel Booking Page </a:t>
            </a:r>
            <a:r>
              <a:rPr lang="en-US" dirty="0"/>
              <a:t>– Handles cancellations with confirmation prompts.</a:t>
            </a:r>
          </a:p>
          <a:p>
            <a:r>
              <a:rPr lang="en-US" b="1" dirty="0"/>
              <a:t>SSR Management Page</a:t>
            </a:r>
            <a:r>
              <a:rPr lang="en-US" dirty="0"/>
              <a:t> – Add or update special service requests (meals, wheelchair, medical needs).</a:t>
            </a:r>
          </a:p>
          <a:p>
            <a:r>
              <a:rPr lang="en-US" b="1" dirty="0"/>
              <a:t>Audit Log Page</a:t>
            </a:r>
            <a:r>
              <a:rPr lang="en-US" dirty="0"/>
              <a:t> – Tracks all modifications and actions for transparency.</a:t>
            </a:r>
          </a:p>
          <a:p>
            <a:r>
              <a:rPr lang="en-US" b="1" dirty="0"/>
              <a:t>Notifications Page</a:t>
            </a:r>
            <a:r>
              <a:rPr lang="en-US" dirty="0"/>
              <a:t> – Displays system alerts and booking updates.</a:t>
            </a:r>
          </a:p>
          <a:p>
            <a:r>
              <a:rPr lang="en-US" b="1" dirty="0"/>
              <a:t>Admin Panel</a:t>
            </a:r>
            <a:r>
              <a:rPr lang="en-US" dirty="0"/>
              <a:t> – Provides management tools for administrators.</a:t>
            </a:r>
          </a:p>
          <a:p>
            <a:r>
              <a:rPr lang="en-US" b="1" dirty="0"/>
              <a:t>History Page</a:t>
            </a:r>
            <a:r>
              <a:rPr lang="en-US" dirty="0"/>
              <a:t> – Shows past bookings and modifications for reference.</a:t>
            </a:r>
          </a:p>
          <a:p>
            <a:endParaRPr lang="en-US" dirty="0"/>
          </a:p>
        </p:txBody>
      </p:sp>
      <p:pic>
        <p:nvPicPr>
          <p:cNvPr id="4" name="Picture 3">
            <a:extLst>
              <a:ext uri="{FF2B5EF4-FFF2-40B4-BE49-F238E27FC236}">
                <a16:creationId xmlns:a16="http://schemas.microsoft.com/office/drawing/2014/main" id="{6A9A09CE-DAD7-52FC-861A-08A399E89FC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8600" y="92075"/>
            <a:ext cx="1295400" cy="639761"/>
          </a:xfrm>
          <a:prstGeom prst="rect">
            <a:avLst/>
          </a:prstGeom>
          <a:noFill/>
          <a:ln>
            <a:noFill/>
          </a:ln>
        </p:spPr>
      </p:pic>
    </p:spTree>
    <p:extLst>
      <p:ext uri="{BB962C8B-B14F-4D97-AF65-F5344CB8AC3E}">
        <p14:creationId xmlns:p14="http://schemas.microsoft.com/office/powerpoint/2010/main" val="26081335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9F5BA9-1BD9-9B5B-2F31-1D5E87DEC0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3B2385-D33C-E0C3-891C-98EDDEA018B0}"/>
              </a:ext>
            </a:extLst>
          </p:cNvPr>
          <p:cNvSpPr>
            <a:spLocks noGrp="1"/>
          </p:cNvSpPr>
          <p:nvPr>
            <p:ph type="title"/>
          </p:nvPr>
        </p:nvSpPr>
        <p:spPr>
          <a:xfrm>
            <a:off x="1447800" y="274638"/>
            <a:ext cx="7467600" cy="944562"/>
          </a:xfrm>
        </p:spPr>
        <p:txBody>
          <a:bodyPr>
            <a:normAutofit/>
          </a:bodyPr>
          <a:lstStyle/>
          <a:p>
            <a:r>
              <a:rPr lang="en-US" sz="2800" b="1" dirty="0">
                <a:solidFill>
                  <a:srgbClr val="0070C0"/>
                </a:solidFill>
                <a:latin typeface="Times New Roman" pitchFamily="18" charset="0"/>
                <a:cs typeface="Times New Roman" pitchFamily="18" charset="0"/>
              </a:rPr>
              <a:t>Modules [Frontend web pages]</a:t>
            </a:r>
          </a:p>
        </p:txBody>
      </p:sp>
      <p:pic>
        <p:nvPicPr>
          <p:cNvPr id="3" name="Content Placeholder 2">
            <a:extLst>
              <a:ext uri="{FF2B5EF4-FFF2-40B4-BE49-F238E27FC236}">
                <a16:creationId xmlns:a16="http://schemas.microsoft.com/office/drawing/2014/main" id="{7AE405C3-0D6A-469A-85A7-C6F0A58DEC7E}"/>
              </a:ext>
            </a:extLst>
          </p:cNvPr>
          <p:cNvPicPr>
            <a:picLocks noGrp="1" noChangeAspect="1"/>
          </p:cNvPicPr>
          <p:nvPr>
            <p:ph idx="1"/>
          </p:nvPr>
        </p:nvPicPr>
        <p:blipFill>
          <a:blip r:embed="rId2"/>
          <a:stretch>
            <a:fillRect/>
          </a:stretch>
        </p:blipFill>
        <p:spPr>
          <a:xfrm>
            <a:off x="1311356" y="1143000"/>
            <a:ext cx="6521288" cy="5440363"/>
          </a:xfrm>
          <a:prstGeom prst="rect">
            <a:avLst/>
          </a:prstGeom>
        </p:spPr>
      </p:pic>
      <p:pic>
        <p:nvPicPr>
          <p:cNvPr id="4" name="Picture 3">
            <a:extLst>
              <a:ext uri="{FF2B5EF4-FFF2-40B4-BE49-F238E27FC236}">
                <a16:creationId xmlns:a16="http://schemas.microsoft.com/office/drawing/2014/main" id="{6A9A09CE-DAD7-52FC-861A-08A399E89FC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28600" y="92075"/>
            <a:ext cx="1295400" cy="639761"/>
          </a:xfrm>
          <a:prstGeom prst="rect">
            <a:avLst/>
          </a:prstGeom>
          <a:noFill/>
          <a:ln>
            <a:noFill/>
          </a:ln>
        </p:spPr>
      </p:pic>
    </p:spTree>
    <p:extLst>
      <p:ext uri="{BB962C8B-B14F-4D97-AF65-F5344CB8AC3E}">
        <p14:creationId xmlns:p14="http://schemas.microsoft.com/office/powerpoint/2010/main" val="40825054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9F5BA9-1BD9-9B5B-2F31-1D5E87DEC0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3B2385-D33C-E0C3-891C-98EDDEA018B0}"/>
              </a:ext>
            </a:extLst>
          </p:cNvPr>
          <p:cNvSpPr>
            <a:spLocks noGrp="1"/>
          </p:cNvSpPr>
          <p:nvPr>
            <p:ph type="title"/>
          </p:nvPr>
        </p:nvSpPr>
        <p:spPr>
          <a:xfrm>
            <a:off x="1447800" y="274638"/>
            <a:ext cx="7467600" cy="944562"/>
          </a:xfrm>
        </p:spPr>
        <p:txBody>
          <a:bodyPr>
            <a:normAutofit/>
          </a:bodyPr>
          <a:lstStyle/>
          <a:p>
            <a:r>
              <a:rPr lang="en-US" sz="2800" b="1" dirty="0">
                <a:solidFill>
                  <a:srgbClr val="0070C0"/>
                </a:solidFill>
                <a:latin typeface="Times New Roman" pitchFamily="18" charset="0"/>
                <a:cs typeface="Times New Roman" pitchFamily="18" charset="0"/>
              </a:rPr>
              <a:t>Modules [Frontend web pages]</a:t>
            </a:r>
          </a:p>
        </p:txBody>
      </p:sp>
      <p:pic>
        <p:nvPicPr>
          <p:cNvPr id="4" name="Picture 3">
            <a:extLst>
              <a:ext uri="{FF2B5EF4-FFF2-40B4-BE49-F238E27FC236}">
                <a16:creationId xmlns:a16="http://schemas.microsoft.com/office/drawing/2014/main" id="{6A9A09CE-DAD7-52FC-861A-08A399E89FC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8600" y="92075"/>
            <a:ext cx="1295400" cy="639761"/>
          </a:xfrm>
          <a:prstGeom prst="rect">
            <a:avLst/>
          </a:prstGeom>
          <a:noFill/>
          <a:ln>
            <a:noFill/>
          </a:ln>
        </p:spPr>
      </p:pic>
      <p:pic>
        <p:nvPicPr>
          <p:cNvPr id="8" name="Content Placeholder 7">
            <a:extLst>
              <a:ext uri="{FF2B5EF4-FFF2-40B4-BE49-F238E27FC236}">
                <a16:creationId xmlns:a16="http://schemas.microsoft.com/office/drawing/2014/main" id="{70EF4244-8545-48A2-8218-B92C7A9B00D7}"/>
              </a:ext>
            </a:extLst>
          </p:cNvPr>
          <p:cNvPicPr>
            <a:picLocks noGrp="1" noChangeAspect="1"/>
          </p:cNvPicPr>
          <p:nvPr>
            <p:ph idx="1"/>
          </p:nvPr>
        </p:nvPicPr>
        <p:blipFill>
          <a:blip r:embed="rId3"/>
          <a:stretch>
            <a:fillRect/>
          </a:stretch>
        </p:blipFill>
        <p:spPr>
          <a:xfrm>
            <a:off x="228600" y="1524000"/>
            <a:ext cx="8686800" cy="4572000"/>
          </a:xfrm>
          <a:prstGeom prst="rect">
            <a:avLst/>
          </a:prstGeom>
        </p:spPr>
      </p:pic>
    </p:spTree>
    <p:extLst>
      <p:ext uri="{BB962C8B-B14F-4D97-AF65-F5344CB8AC3E}">
        <p14:creationId xmlns:p14="http://schemas.microsoft.com/office/powerpoint/2010/main" val="10824751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365AED-85DA-06B1-88DF-DD9EB6C68A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7C73A0-E456-76A5-C3F3-BE0AC399C028}"/>
              </a:ext>
            </a:extLst>
          </p:cNvPr>
          <p:cNvSpPr>
            <a:spLocks noGrp="1"/>
          </p:cNvSpPr>
          <p:nvPr>
            <p:ph type="title"/>
          </p:nvPr>
        </p:nvSpPr>
        <p:spPr>
          <a:xfrm>
            <a:off x="1447800" y="274638"/>
            <a:ext cx="6477000" cy="944562"/>
          </a:xfrm>
        </p:spPr>
        <p:txBody>
          <a:bodyPr>
            <a:normAutofit/>
          </a:bodyPr>
          <a:lstStyle/>
          <a:p>
            <a:r>
              <a:rPr lang="en-US" sz="2800" b="1" dirty="0">
                <a:solidFill>
                  <a:srgbClr val="0070C0"/>
                </a:solidFill>
                <a:latin typeface="Times New Roman" pitchFamily="18" charset="0"/>
                <a:cs typeface="Times New Roman" pitchFamily="18" charset="0"/>
              </a:rPr>
              <a:t>CO MAPPING</a:t>
            </a:r>
          </a:p>
        </p:txBody>
      </p:sp>
      <p:pic>
        <p:nvPicPr>
          <p:cNvPr id="4" name="Picture 3">
            <a:extLst>
              <a:ext uri="{FF2B5EF4-FFF2-40B4-BE49-F238E27FC236}">
                <a16:creationId xmlns:a16="http://schemas.microsoft.com/office/drawing/2014/main" id="{6C8DDD50-45C2-3C43-2BCA-E4F2A7210F1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8600" y="92075"/>
            <a:ext cx="1295400" cy="639761"/>
          </a:xfrm>
          <a:prstGeom prst="rect">
            <a:avLst/>
          </a:prstGeom>
          <a:noFill/>
          <a:ln>
            <a:noFill/>
          </a:ln>
        </p:spPr>
      </p:pic>
      <p:sp>
        <p:nvSpPr>
          <p:cNvPr id="5" name="Content Placeholder 4">
            <a:extLst>
              <a:ext uri="{FF2B5EF4-FFF2-40B4-BE49-F238E27FC236}">
                <a16:creationId xmlns:a16="http://schemas.microsoft.com/office/drawing/2014/main" id="{3AE3023B-BC8C-EFC3-02CD-330175224624}"/>
              </a:ext>
            </a:extLst>
          </p:cNvPr>
          <p:cNvSpPr>
            <a:spLocks noGrp="1"/>
          </p:cNvSpPr>
          <p:nvPr>
            <p:ph idx="1"/>
          </p:nvPr>
        </p:nvSpPr>
        <p:spPr>
          <a:xfrm>
            <a:off x="457200" y="1447799"/>
            <a:ext cx="8229600" cy="4678365"/>
          </a:xfrm>
        </p:spPr>
        <p:txBody>
          <a:bodyPr>
            <a:normAutofit fontScale="92500"/>
          </a:bodyPr>
          <a:lstStyle/>
          <a:p>
            <a:pPr>
              <a:buFont typeface="Wingdings" panose="05000000000000000000" pitchFamily="2" charset="2"/>
              <a:buChar char="Ø"/>
            </a:pPr>
            <a:r>
              <a:rPr lang="en-IN" sz="2400" b="1" dirty="0"/>
              <a:t>CO1: Foundations of Front-End Engineering &amp; Framework Design</a:t>
            </a:r>
          </a:p>
          <a:p>
            <a:pPr marL="0" indent="0">
              <a:buNone/>
            </a:pPr>
            <a:endParaRPr lang="en-IN" sz="2400" b="1" dirty="0"/>
          </a:p>
          <a:p>
            <a:r>
              <a:rPr lang="en-IN" sz="2400" dirty="0"/>
              <a:t>Virtual DOM Reconciliation</a:t>
            </a:r>
          </a:p>
          <a:p>
            <a:r>
              <a:rPr lang="en-IN" sz="2400" dirty="0"/>
              <a:t>Unidirectional Data Flow</a:t>
            </a:r>
          </a:p>
          <a:p>
            <a:r>
              <a:rPr lang="en-IN" sz="2400" dirty="0"/>
              <a:t>Declarative UI States</a:t>
            </a:r>
          </a:p>
          <a:p>
            <a:pPr marL="0" indent="0">
              <a:buNone/>
            </a:pPr>
            <a:endParaRPr lang="en-IN" sz="2400" dirty="0"/>
          </a:p>
          <a:p>
            <a:pPr>
              <a:buFont typeface="Wingdings" panose="05000000000000000000" pitchFamily="2" charset="2"/>
              <a:buChar char="Ø"/>
            </a:pPr>
            <a:r>
              <a:rPr lang="en-IN" sz="2400" b="1" dirty="0"/>
              <a:t>CO2: JavaScript &amp; TypeScript Engineering for Frameworks</a:t>
            </a:r>
          </a:p>
          <a:p>
            <a:pPr marL="0" indent="0">
              <a:buNone/>
            </a:pPr>
            <a:endParaRPr lang="en-IN" sz="2400" b="1" dirty="0"/>
          </a:p>
          <a:p>
            <a:r>
              <a:rPr lang="en-IN" sz="2400" dirty="0"/>
              <a:t> JavaScript Closures</a:t>
            </a:r>
          </a:p>
          <a:p>
            <a:r>
              <a:rPr lang="en-IN" sz="2400" dirty="0"/>
              <a:t>Asynchronous Core Async/Await Flow</a:t>
            </a:r>
          </a:p>
          <a:p>
            <a:r>
              <a:rPr lang="en-IN" sz="2400" dirty="0"/>
              <a:t>ES6 Modules</a:t>
            </a:r>
            <a:endParaRPr lang="en-IN" sz="2400" b="1" dirty="0"/>
          </a:p>
        </p:txBody>
      </p:sp>
    </p:spTree>
    <p:extLst>
      <p:ext uri="{BB962C8B-B14F-4D97-AF65-F5344CB8AC3E}">
        <p14:creationId xmlns:p14="http://schemas.microsoft.com/office/powerpoint/2010/main" val="2135810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40F6A9-9DF5-35BA-8CCC-62C3CB58B1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9C1268-4D87-8D97-1102-315C12ED5BB5}"/>
              </a:ext>
            </a:extLst>
          </p:cNvPr>
          <p:cNvSpPr>
            <a:spLocks noGrp="1"/>
          </p:cNvSpPr>
          <p:nvPr>
            <p:ph type="title"/>
          </p:nvPr>
        </p:nvSpPr>
        <p:spPr>
          <a:xfrm>
            <a:off x="1447800" y="274638"/>
            <a:ext cx="6477000" cy="944562"/>
          </a:xfrm>
        </p:spPr>
        <p:txBody>
          <a:bodyPr>
            <a:normAutofit/>
          </a:bodyPr>
          <a:lstStyle/>
          <a:p>
            <a:r>
              <a:rPr lang="en-US" sz="2800" b="1" dirty="0">
                <a:solidFill>
                  <a:srgbClr val="0070C0"/>
                </a:solidFill>
                <a:latin typeface="Times New Roman" pitchFamily="18" charset="0"/>
                <a:cs typeface="Times New Roman" pitchFamily="18" charset="0"/>
              </a:rPr>
              <a:t>CO MAPPING</a:t>
            </a:r>
          </a:p>
        </p:txBody>
      </p:sp>
      <p:pic>
        <p:nvPicPr>
          <p:cNvPr id="4" name="Picture 3">
            <a:extLst>
              <a:ext uri="{FF2B5EF4-FFF2-40B4-BE49-F238E27FC236}">
                <a16:creationId xmlns:a16="http://schemas.microsoft.com/office/drawing/2014/main" id="{03E6A33E-04E5-6CEB-451C-8E7A197D9F3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8600" y="92075"/>
            <a:ext cx="1295400" cy="639761"/>
          </a:xfrm>
          <a:prstGeom prst="rect">
            <a:avLst/>
          </a:prstGeom>
          <a:noFill/>
          <a:ln>
            <a:noFill/>
          </a:ln>
        </p:spPr>
      </p:pic>
      <p:sp>
        <p:nvSpPr>
          <p:cNvPr id="5" name="Content Placeholder 4">
            <a:extLst>
              <a:ext uri="{FF2B5EF4-FFF2-40B4-BE49-F238E27FC236}">
                <a16:creationId xmlns:a16="http://schemas.microsoft.com/office/drawing/2014/main" id="{8BAD29C8-1C92-12AD-D8FB-5DA47512CEC6}"/>
              </a:ext>
            </a:extLst>
          </p:cNvPr>
          <p:cNvSpPr>
            <a:spLocks noGrp="1"/>
          </p:cNvSpPr>
          <p:nvPr>
            <p:ph idx="1"/>
          </p:nvPr>
        </p:nvSpPr>
        <p:spPr>
          <a:xfrm>
            <a:off x="457200" y="1447799"/>
            <a:ext cx="8610600" cy="5181601"/>
          </a:xfrm>
        </p:spPr>
        <p:txBody>
          <a:bodyPr>
            <a:normAutofit/>
          </a:bodyPr>
          <a:lstStyle/>
          <a:p>
            <a:pPr>
              <a:buFont typeface="Wingdings" panose="05000000000000000000" pitchFamily="2" charset="2"/>
              <a:buChar char="Ø"/>
            </a:pPr>
            <a:r>
              <a:rPr lang="en-IN" sz="2200" b="1" dirty="0"/>
              <a:t>CO3: React Component Model (Engineering View)</a:t>
            </a:r>
          </a:p>
          <a:p>
            <a:pPr marL="0" indent="0">
              <a:buNone/>
            </a:pPr>
            <a:endParaRPr lang="en-IN" sz="2400" b="1" dirty="0"/>
          </a:p>
          <a:p>
            <a:r>
              <a:rPr lang="en-IN" sz="2200" dirty="0"/>
              <a:t>Props as Immutable Configuration Contracts</a:t>
            </a:r>
          </a:p>
          <a:p>
            <a:r>
              <a:rPr lang="en-IN" sz="2200" dirty="0"/>
              <a:t>Deterministic UI Functions</a:t>
            </a:r>
          </a:p>
          <a:p>
            <a:r>
              <a:rPr lang="en-IN" sz="2200" dirty="0"/>
              <a:t>Controlled Form Components</a:t>
            </a:r>
          </a:p>
          <a:p>
            <a:pPr marL="0" indent="0">
              <a:buNone/>
            </a:pPr>
            <a:endParaRPr lang="en-IN" sz="2400" dirty="0"/>
          </a:p>
          <a:p>
            <a:pPr>
              <a:buFont typeface="Wingdings" panose="05000000000000000000" pitchFamily="2" charset="2"/>
              <a:buChar char="Ø"/>
            </a:pPr>
            <a:r>
              <a:rPr lang="en-IN" sz="2200" b="1" dirty="0"/>
              <a:t>CO4: State Architecture, Async Data Engineering &amp; API Integration</a:t>
            </a:r>
          </a:p>
          <a:p>
            <a:pPr marL="0" indent="0">
              <a:buNone/>
            </a:pPr>
            <a:endParaRPr lang="en-IN" sz="2400" b="1" dirty="0"/>
          </a:p>
          <a:p>
            <a:r>
              <a:rPr lang="en-IN" sz="2200" dirty="0"/>
              <a:t>Global State vs. Localized Co-location</a:t>
            </a:r>
          </a:p>
          <a:p>
            <a:r>
              <a:rPr lang="en-IN" sz="2200" dirty="0"/>
              <a:t>React Context Architecture Rationale</a:t>
            </a:r>
            <a:endParaRPr lang="en-IN" sz="2200" b="1" dirty="0"/>
          </a:p>
        </p:txBody>
      </p:sp>
    </p:spTree>
    <p:extLst>
      <p:ext uri="{BB962C8B-B14F-4D97-AF65-F5344CB8AC3E}">
        <p14:creationId xmlns:p14="http://schemas.microsoft.com/office/powerpoint/2010/main" val="26081847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31F7A3-C83A-B307-5A98-A936FB2268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1E28AE-F3BE-5BD4-6AF4-0657DDD093F4}"/>
              </a:ext>
            </a:extLst>
          </p:cNvPr>
          <p:cNvSpPr>
            <a:spLocks noGrp="1"/>
          </p:cNvSpPr>
          <p:nvPr>
            <p:ph type="title"/>
          </p:nvPr>
        </p:nvSpPr>
        <p:spPr>
          <a:xfrm>
            <a:off x="1447800" y="274638"/>
            <a:ext cx="6477000" cy="944562"/>
          </a:xfrm>
        </p:spPr>
        <p:txBody>
          <a:bodyPr>
            <a:normAutofit/>
          </a:bodyPr>
          <a:lstStyle/>
          <a:p>
            <a:r>
              <a:rPr lang="en-US" sz="2800" b="1" dirty="0">
                <a:solidFill>
                  <a:srgbClr val="0070C0"/>
                </a:solidFill>
                <a:latin typeface="Times New Roman" pitchFamily="18" charset="0"/>
                <a:cs typeface="Times New Roman" pitchFamily="18" charset="0"/>
              </a:rPr>
              <a:t>CO MAPPING</a:t>
            </a:r>
          </a:p>
        </p:txBody>
      </p:sp>
      <p:pic>
        <p:nvPicPr>
          <p:cNvPr id="4" name="Picture 3">
            <a:extLst>
              <a:ext uri="{FF2B5EF4-FFF2-40B4-BE49-F238E27FC236}">
                <a16:creationId xmlns:a16="http://schemas.microsoft.com/office/drawing/2014/main" id="{1B4BEFE2-4DAA-F59F-C639-662BBFAA4C2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8600" y="92075"/>
            <a:ext cx="1295400" cy="639761"/>
          </a:xfrm>
          <a:prstGeom prst="rect">
            <a:avLst/>
          </a:prstGeom>
          <a:noFill/>
          <a:ln>
            <a:noFill/>
          </a:ln>
        </p:spPr>
      </p:pic>
      <p:sp>
        <p:nvSpPr>
          <p:cNvPr id="5" name="Content Placeholder 4">
            <a:extLst>
              <a:ext uri="{FF2B5EF4-FFF2-40B4-BE49-F238E27FC236}">
                <a16:creationId xmlns:a16="http://schemas.microsoft.com/office/drawing/2014/main" id="{3BCA07AF-5ECF-A5C1-912C-1B20DD6FB612}"/>
              </a:ext>
            </a:extLst>
          </p:cNvPr>
          <p:cNvSpPr>
            <a:spLocks noGrp="1"/>
          </p:cNvSpPr>
          <p:nvPr>
            <p:ph idx="1"/>
          </p:nvPr>
        </p:nvSpPr>
        <p:spPr>
          <a:xfrm>
            <a:off x="457200" y="1447799"/>
            <a:ext cx="8229600" cy="4678365"/>
          </a:xfrm>
        </p:spPr>
        <p:txBody>
          <a:bodyPr>
            <a:normAutofit fontScale="92500"/>
          </a:bodyPr>
          <a:lstStyle/>
          <a:p>
            <a:pPr>
              <a:buFont typeface="Wingdings" panose="05000000000000000000" pitchFamily="2" charset="2"/>
              <a:buChar char="Ø"/>
            </a:pPr>
            <a:r>
              <a:rPr lang="en-IN" sz="2400" b="1" dirty="0"/>
              <a:t>CO5: Routing, Forms, Accessibility &amp; Performance Engineering</a:t>
            </a:r>
          </a:p>
          <a:p>
            <a:pPr marL="0" indent="0">
              <a:buNone/>
            </a:pPr>
            <a:endParaRPr lang="en-IN" sz="2400" b="1" dirty="0"/>
          </a:p>
          <a:p>
            <a:r>
              <a:rPr lang="en-IN" sz="2400" dirty="0"/>
              <a:t>Inline CSS Media Query Injection</a:t>
            </a:r>
          </a:p>
          <a:p>
            <a:r>
              <a:rPr lang="en-IN" sz="2400" dirty="0"/>
              <a:t>Print Virtualization Boundaries</a:t>
            </a:r>
          </a:p>
          <a:p>
            <a:r>
              <a:rPr lang="en-IN" sz="2400" dirty="0"/>
              <a:t>Component Unmounting Guards</a:t>
            </a:r>
          </a:p>
          <a:p>
            <a:pPr marL="0" indent="0">
              <a:buNone/>
            </a:pPr>
            <a:endParaRPr lang="en-IN" sz="2400" dirty="0"/>
          </a:p>
          <a:p>
            <a:pPr>
              <a:buFont typeface="Wingdings" panose="05000000000000000000" pitchFamily="2" charset="2"/>
              <a:buChar char="Ø"/>
            </a:pPr>
            <a:r>
              <a:rPr lang="en-IN" sz="2400" b="1" dirty="0"/>
              <a:t>CO6: Build Systems, Testing, CI/CD &amp; Deployment Engineering</a:t>
            </a:r>
          </a:p>
          <a:p>
            <a:pPr marL="0" indent="0">
              <a:buNone/>
            </a:pPr>
            <a:endParaRPr lang="en-IN" sz="2400" b="1" dirty="0"/>
          </a:p>
          <a:p>
            <a:r>
              <a:rPr lang="en-IN" sz="2400" dirty="0"/>
              <a:t>Vite Compiler Build Systems</a:t>
            </a:r>
          </a:p>
          <a:p>
            <a:r>
              <a:rPr lang="en-IN" sz="2400" dirty="0"/>
              <a:t>Single-Page App (SPA) Bundling Optimization</a:t>
            </a:r>
            <a:endParaRPr lang="en-IN" sz="2400" b="1" dirty="0"/>
          </a:p>
        </p:txBody>
      </p:sp>
    </p:spTree>
    <p:extLst>
      <p:ext uri="{BB962C8B-B14F-4D97-AF65-F5344CB8AC3E}">
        <p14:creationId xmlns:p14="http://schemas.microsoft.com/office/powerpoint/2010/main" val="18388207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BA0219-72F6-E875-BE00-9DC12E3264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6AD0D1-C48F-F8C2-40B0-E97271642E83}"/>
              </a:ext>
            </a:extLst>
          </p:cNvPr>
          <p:cNvSpPr>
            <a:spLocks noGrp="1"/>
          </p:cNvSpPr>
          <p:nvPr>
            <p:ph type="title"/>
          </p:nvPr>
        </p:nvSpPr>
        <p:spPr>
          <a:xfrm>
            <a:off x="1524000" y="274638"/>
            <a:ext cx="7162800" cy="868362"/>
          </a:xfrm>
        </p:spPr>
        <p:txBody>
          <a:bodyPr>
            <a:normAutofit fontScale="90000"/>
          </a:bodyPr>
          <a:lstStyle/>
          <a:p>
            <a:r>
              <a:rPr lang="en-US" sz="3100" b="1" dirty="0">
                <a:solidFill>
                  <a:srgbClr val="0070C0"/>
                </a:solidFill>
                <a:latin typeface="Times New Roman" pitchFamily="18" charset="0"/>
                <a:cs typeface="Times New Roman" pitchFamily="18" charset="0"/>
              </a:rPr>
              <a:t>Expected Outcomes of the Proposed Work</a:t>
            </a:r>
            <a:br>
              <a:rPr lang="en-US" b="1" dirty="0">
                <a:solidFill>
                  <a:srgbClr val="0070C0"/>
                </a:solidFill>
                <a:latin typeface="Times New Roman" pitchFamily="18" charset="0"/>
                <a:cs typeface="Times New Roman" pitchFamily="18" charset="0"/>
              </a:rPr>
            </a:br>
            <a:endParaRPr lang="en-US" b="1" dirty="0">
              <a:solidFill>
                <a:srgbClr val="0070C0"/>
              </a:solidFill>
              <a:latin typeface="Times New Roman" pitchFamily="18" charset="0"/>
              <a:cs typeface="Times New Roman" pitchFamily="18" charset="0"/>
            </a:endParaRPr>
          </a:p>
        </p:txBody>
      </p:sp>
      <p:sp>
        <p:nvSpPr>
          <p:cNvPr id="4" name="Content Placeholder 3">
            <a:extLst>
              <a:ext uri="{FF2B5EF4-FFF2-40B4-BE49-F238E27FC236}">
                <a16:creationId xmlns:a16="http://schemas.microsoft.com/office/drawing/2014/main" id="{2270A7B1-AE81-675E-BE7D-3D5A36D1C3B2}"/>
              </a:ext>
            </a:extLst>
          </p:cNvPr>
          <p:cNvSpPr>
            <a:spLocks noGrp="1"/>
          </p:cNvSpPr>
          <p:nvPr>
            <p:ph idx="1"/>
          </p:nvPr>
        </p:nvSpPr>
        <p:spPr>
          <a:xfrm>
            <a:off x="457200" y="1143001"/>
            <a:ext cx="8229600" cy="4983164"/>
          </a:xfrm>
        </p:spPr>
        <p:txBody>
          <a:bodyPr>
            <a:normAutofit fontScale="62500" lnSpcReduction="20000"/>
          </a:bodyPr>
          <a:lstStyle/>
          <a:p>
            <a:pPr marL="0" indent="0">
              <a:buNone/>
            </a:pPr>
            <a:r>
              <a:rPr lang="en-US" b="1" dirty="0"/>
              <a:t>      Expected Outcomes of the Proposed Work:</a:t>
            </a:r>
          </a:p>
          <a:p>
            <a:pPr marL="0" indent="0">
              <a:buNone/>
            </a:pPr>
            <a:endParaRPr lang="en-US" dirty="0"/>
          </a:p>
          <a:p>
            <a:r>
              <a:rPr lang="en-US" dirty="0"/>
              <a:t>Improved transparency in managing Passenger Name Records with clear audit trails.</a:t>
            </a:r>
          </a:p>
          <a:p>
            <a:r>
              <a:rPr lang="en-US" dirty="0"/>
              <a:t>Efficient handling of modifications, cancellations, and booking history.</a:t>
            </a:r>
          </a:p>
          <a:p>
            <a:r>
              <a:rPr lang="en-US" dirty="0"/>
              <a:t>Streamlined management of Special Service Requests (SSR) such as meals and medical assistance.</a:t>
            </a:r>
          </a:p>
          <a:p>
            <a:r>
              <a:rPr lang="en-US" dirty="0"/>
              <a:t>Reduction of manual errors and inconsistencies in passenger records.</a:t>
            </a:r>
          </a:p>
          <a:p>
            <a:r>
              <a:rPr lang="en-US" dirty="0"/>
              <a:t>Enhanced passenger satisfaction through notifications and easy access to booking details.</a:t>
            </a:r>
          </a:p>
          <a:p>
            <a:r>
              <a:rPr lang="en-US" dirty="0"/>
              <a:t>User‑friendly interface that simplifies operations for both staff and passengers.</a:t>
            </a:r>
          </a:p>
          <a:p>
            <a:r>
              <a:rPr lang="en-US" dirty="0"/>
              <a:t>Reliable system performance with secure data handling and accountability.</a:t>
            </a:r>
          </a:p>
          <a:p>
            <a:r>
              <a:rPr lang="en-US" dirty="0"/>
              <a:t>Foundation for future scalability and integration with advanced airline services.</a:t>
            </a:r>
          </a:p>
          <a:p>
            <a:endParaRPr lang="en-IN" dirty="0"/>
          </a:p>
        </p:txBody>
      </p:sp>
      <p:pic>
        <p:nvPicPr>
          <p:cNvPr id="5" name="Picture 4">
            <a:extLst>
              <a:ext uri="{FF2B5EF4-FFF2-40B4-BE49-F238E27FC236}">
                <a16:creationId xmlns:a16="http://schemas.microsoft.com/office/drawing/2014/main" id="{7FCB392D-6672-9401-8EB8-2E1BA488584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92075"/>
            <a:ext cx="1295400" cy="746125"/>
          </a:xfrm>
          <a:prstGeom prst="rect">
            <a:avLst/>
          </a:prstGeom>
          <a:noFill/>
          <a:ln>
            <a:noFill/>
          </a:ln>
        </p:spPr>
      </p:pic>
    </p:spTree>
    <p:extLst>
      <p:ext uri="{BB962C8B-B14F-4D97-AF65-F5344CB8AC3E}">
        <p14:creationId xmlns:p14="http://schemas.microsoft.com/office/powerpoint/2010/main" val="26104880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228600"/>
            <a:ext cx="7696200" cy="685800"/>
          </a:xfrm>
        </p:spPr>
        <p:txBody>
          <a:bodyPr>
            <a:normAutofit/>
          </a:bodyPr>
          <a:lstStyle/>
          <a:p>
            <a:r>
              <a:rPr lang="en-US" sz="2800" b="1" dirty="0">
                <a:solidFill>
                  <a:srgbClr val="0070C0"/>
                </a:solidFill>
                <a:latin typeface="Times New Roman" pitchFamily="18" charset="0"/>
                <a:cs typeface="Times New Roman" pitchFamily="18" charset="0"/>
              </a:rPr>
              <a:t>Conclusion and Future Scope</a:t>
            </a:r>
            <a:endParaRPr lang="en-IN" sz="2800" b="1" dirty="0">
              <a:solidFill>
                <a:srgbClr val="0070C0"/>
              </a:solidFill>
              <a:latin typeface="Times New Roman" pitchFamily="18" charset="0"/>
              <a:cs typeface="Times New Roman" pitchFamily="18" charset="0"/>
            </a:endParaRPr>
          </a:p>
        </p:txBody>
      </p:sp>
      <p:sp>
        <p:nvSpPr>
          <p:cNvPr id="5" name="Content Placeholder 4">
            <a:extLst>
              <a:ext uri="{FF2B5EF4-FFF2-40B4-BE49-F238E27FC236}">
                <a16:creationId xmlns:a16="http://schemas.microsoft.com/office/drawing/2014/main" id="{4422A072-7E3B-BDEF-9B7B-27625990219B}"/>
              </a:ext>
            </a:extLst>
          </p:cNvPr>
          <p:cNvSpPr>
            <a:spLocks noGrp="1"/>
          </p:cNvSpPr>
          <p:nvPr>
            <p:ph idx="1"/>
          </p:nvPr>
        </p:nvSpPr>
        <p:spPr>
          <a:xfrm>
            <a:off x="457200" y="1050925"/>
            <a:ext cx="8229600" cy="5075239"/>
          </a:xfrm>
        </p:spPr>
        <p:txBody>
          <a:bodyPr>
            <a:normAutofit/>
          </a:bodyPr>
          <a:lstStyle/>
          <a:p>
            <a:r>
              <a:rPr lang="en-US" sz="2400" b="1" dirty="0"/>
              <a:t>Conclusion:</a:t>
            </a:r>
            <a:r>
              <a:rPr lang="en-US" sz="2400" dirty="0"/>
              <a:t> The PNR Manager project improves airline booking systems by making passenger records transparent, efficient, and easy to manage. With features like SSR handling, audit logging, notifications, and history tracking, it reduces errors, ensures accountability, and enhances passenger experience.</a:t>
            </a:r>
          </a:p>
          <a:p>
            <a:endParaRPr lang="en-US" sz="2400" dirty="0"/>
          </a:p>
          <a:p>
            <a:r>
              <a:rPr lang="en-US" sz="2400" b="1" dirty="0"/>
              <a:t>Future Scope:</a:t>
            </a:r>
            <a:r>
              <a:rPr lang="en-US" sz="2400" dirty="0"/>
              <a:t> The system can be expanded with AI‑based support, mobile app integration, multilingual access, and predictive analytics for passenger needs. Advanced security like blockchain and cloud scalability can further strengthen reliability, making it adaptable to future airline industry demands.</a:t>
            </a:r>
          </a:p>
          <a:p>
            <a:endParaRPr lang="en-US" dirty="0"/>
          </a:p>
        </p:txBody>
      </p:sp>
      <p:pic>
        <p:nvPicPr>
          <p:cNvPr id="3" name="Picture 2">
            <a:extLst>
              <a:ext uri="{FF2B5EF4-FFF2-40B4-BE49-F238E27FC236}">
                <a16:creationId xmlns:a16="http://schemas.microsoft.com/office/drawing/2014/main" id="{2F884086-DCA6-09DA-2ED3-B35984EF310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8600" y="92075"/>
            <a:ext cx="1295400" cy="639761"/>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solidFill>
                  <a:srgbClr val="0070C0"/>
                </a:solidFill>
                <a:latin typeface="Times New Roman" panose="02020603050405020304" pitchFamily="18" charset="0"/>
                <a:cs typeface="Times New Roman" panose="02020603050405020304" pitchFamily="18" charset="0"/>
              </a:rPr>
              <a:t>References </a:t>
            </a:r>
          </a:p>
        </p:txBody>
      </p:sp>
      <p:sp>
        <p:nvSpPr>
          <p:cNvPr id="6" name="Content Placeholder 5">
            <a:extLst>
              <a:ext uri="{FF2B5EF4-FFF2-40B4-BE49-F238E27FC236}">
                <a16:creationId xmlns:a16="http://schemas.microsoft.com/office/drawing/2014/main" id="{DEC677EB-3C69-1E22-5FF9-F70E3FD9963F}"/>
              </a:ext>
            </a:extLst>
          </p:cNvPr>
          <p:cNvSpPr>
            <a:spLocks noGrp="1"/>
          </p:cNvSpPr>
          <p:nvPr>
            <p:ph idx="1"/>
          </p:nvPr>
        </p:nvSpPr>
        <p:spPr>
          <a:xfrm>
            <a:off x="457200" y="1828800"/>
            <a:ext cx="8229600" cy="3733800"/>
          </a:xfrm>
        </p:spPr>
        <p:txBody>
          <a:bodyPr>
            <a:normAutofit fontScale="77500" lnSpcReduction="20000"/>
          </a:bodyPr>
          <a:lstStyle/>
          <a:p>
            <a:pPr marL="0" indent="0">
              <a:buNone/>
            </a:pPr>
            <a:r>
              <a:rPr lang="en-GB" b="1" dirty="0"/>
              <a:t>   </a:t>
            </a:r>
            <a:r>
              <a:rPr lang="en-GB" sz="3100" b="1" dirty="0"/>
              <a:t>References:</a:t>
            </a:r>
          </a:p>
          <a:p>
            <a:endParaRPr lang="en-GB" sz="3100" dirty="0"/>
          </a:p>
          <a:p>
            <a:r>
              <a:rPr lang="en-GB" sz="3100" dirty="0"/>
              <a:t>International Air Transport Association (IATA) – Passenger Name Record (PNR) Guidelines.</a:t>
            </a:r>
          </a:p>
          <a:p>
            <a:r>
              <a:rPr lang="en-GB" sz="3100" dirty="0"/>
              <a:t>International Civil Aviation Organization (ICAO) – Standards for PNR Data Exchange.</a:t>
            </a:r>
          </a:p>
          <a:p>
            <a:r>
              <a:rPr lang="en-GB" sz="3100" dirty="0"/>
              <a:t>Amadeus Airline IT Solutions – PNR Management Systems.</a:t>
            </a:r>
          </a:p>
          <a:p>
            <a:r>
              <a:rPr lang="en-GB" sz="3100" dirty="0"/>
              <a:t>Sabre Travel Network – Lifecycle of Passenger Name Records.</a:t>
            </a:r>
          </a:p>
          <a:p>
            <a:r>
              <a:rPr lang="en-GB" sz="3100" dirty="0"/>
              <a:t>Academic resources on Database Management Systems and Airline Reservation Systems.</a:t>
            </a:r>
          </a:p>
          <a:p>
            <a:endParaRPr lang="en-IN" dirty="0"/>
          </a:p>
        </p:txBody>
      </p:sp>
      <p:pic>
        <p:nvPicPr>
          <p:cNvPr id="5" name="Picture 4">
            <a:extLst>
              <a:ext uri="{FF2B5EF4-FFF2-40B4-BE49-F238E27FC236}">
                <a16:creationId xmlns:a16="http://schemas.microsoft.com/office/drawing/2014/main" id="{381A5246-9866-9B93-E230-97932634385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92075"/>
            <a:ext cx="1447800" cy="639761"/>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912075-789A-8ABC-0318-3539CA69D3FE}"/>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DCD8B799-1014-A270-C662-4E878FAC9288}"/>
              </a:ext>
            </a:extLst>
          </p:cNvPr>
          <p:cNvSpPr/>
          <p:nvPr/>
        </p:nvSpPr>
        <p:spPr>
          <a:xfrm>
            <a:off x="1767855" y="2774216"/>
            <a:ext cx="5608289" cy="923330"/>
          </a:xfrm>
          <a:prstGeom prst="rect">
            <a:avLst/>
          </a:prstGeom>
          <a:noFill/>
        </p:spPr>
        <p:txBody>
          <a:bodyPr wrap="square" lIns="91440" tIns="45720" rIns="91440" bIns="45720">
            <a:spAutoFit/>
          </a:bodyPr>
          <a:lstStyle/>
          <a:p>
            <a:pPr algn="ctr"/>
            <a:r>
              <a:rPr lang="en-US" sz="54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Thank you</a:t>
            </a:r>
            <a:endParaRPr lang="en-US" sz="54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endParaRPr>
          </a:p>
        </p:txBody>
      </p:sp>
    </p:spTree>
    <p:extLst>
      <p:ext uri="{BB962C8B-B14F-4D97-AF65-F5344CB8AC3E}">
        <p14:creationId xmlns:p14="http://schemas.microsoft.com/office/powerpoint/2010/main" val="15584115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1885</TotalTime>
  <Words>1330</Words>
  <Application>Microsoft Office PowerPoint</Application>
  <PresentationFormat>On-screen Show (4:3)</PresentationFormat>
  <Paragraphs>135</Paragraphs>
  <Slides>18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Aptos</vt:lpstr>
      <vt:lpstr>Arial</vt:lpstr>
      <vt:lpstr>Calibri</vt:lpstr>
      <vt:lpstr>Times New Roman</vt:lpstr>
      <vt:lpstr>Wingdings</vt:lpstr>
      <vt:lpstr>Office Theme</vt:lpstr>
      <vt:lpstr> A Project Review Meeting    on  Passenger Name Record</vt:lpstr>
      <vt:lpstr>Outline of the Presentation</vt:lpstr>
      <vt:lpstr>Abstract</vt:lpstr>
      <vt:lpstr>Abstract</vt:lpstr>
      <vt:lpstr>Introduction</vt:lpstr>
      <vt:lpstr>Problem Statement </vt:lpstr>
      <vt:lpstr>Project Flow Diagram</vt:lpstr>
      <vt:lpstr>Objectives with Justification </vt:lpstr>
      <vt:lpstr>Modules [Frontend web pages]</vt:lpstr>
      <vt:lpstr>Modules [Frontend web pages]</vt:lpstr>
      <vt:lpstr>Modules [Frontend web pages]</vt:lpstr>
      <vt:lpstr>CO MAPPING</vt:lpstr>
      <vt:lpstr>CO MAPPING</vt:lpstr>
      <vt:lpstr>CO MAPPING</vt:lpstr>
      <vt:lpstr>Expected Outcomes of the Proposed Work </vt:lpstr>
      <vt:lpstr>Conclusion and Future Scope</vt:lpstr>
      <vt:lpstr>References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Abstract</dc:title>
  <dc:creator>subbu</dc:creator>
  <cp:lastModifiedBy>Jakka Bhanu</cp:lastModifiedBy>
  <cp:revision>206</cp:revision>
  <dcterms:created xsi:type="dcterms:W3CDTF">2006-08-16T00:00:00Z</dcterms:created>
  <dcterms:modified xsi:type="dcterms:W3CDTF">2026-06-19T02:55:14Z</dcterms:modified>
</cp:coreProperties>
</file>